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468" r:id="rId5"/>
    <p:sldId id="303" r:id="rId6"/>
    <p:sldId id="470" r:id="rId7"/>
    <p:sldId id="471" r:id="rId8"/>
    <p:sldId id="472" r:id="rId9"/>
    <p:sldId id="484" r:id="rId10"/>
    <p:sldId id="473" r:id="rId11"/>
    <p:sldId id="474" r:id="rId12"/>
    <p:sldId id="476" r:id="rId13"/>
    <p:sldId id="475" r:id="rId14"/>
    <p:sldId id="477" r:id="rId15"/>
    <p:sldId id="478" r:id="rId16"/>
    <p:sldId id="479" r:id="rId17"/>
    <p:sldId id="480" r:id="rId18"/>
    <p:sldId id="483" r:id="rId19"/>
    <p:sldId id="482" r:id="rId20"/>
    <p:sldId id="481" r:id="rId21"/>
    <p:sldId id="469" r:id="rId22"/>
    <p:sldId id="298" r:id="rId23"/>
  </p:sldIdLst>
  <p:sldSz cx="12192000" cy="6858000"/>
  <p:notesSz cx="6858000" cy="9144000"/>
  <p:embeddedFontLst>
    <p:embeddedFont>
      <p:font typeface="Consolas" panose="020B0609020204030204" pitchFamily="49" charset="0"/>
      <p:regular r:id="rId26"/>
      <p:bold r:id="rId27"/>
      <p:italic r:id="rId28"/>
      <p:boldItalic r:id="rId29"/>
    </p:embeddedFont>
    <p:embeddedFont>
      <p:font typeface="Georgia" panose="02040502050405020303" pitchFamily="18" charset="0"/>
      <p:regular r:id="rId30"/>
      <p:bold r:id="rId31"/>
      <p:italic r:id="rId32"/>
      <p:boldItalic r:id="rId33"/>
    </p:embeddedFont>
    <p:embeddedFont>
      <p:font typeface="Segoe UI" panose="020B0502040204020203" pitchFamily="34" charset="0"/>
      <p:regular r:id="rId34"/>
      <p:bold r:id="rId35"/>
      <p:italic r:id="rId36"/>
      <p:boldItalic r:id="rId37"/>
    </p:embeddedFont>
    <p:embeddedFont>
      <p:font typeface="Source Sans Pro" panose="020B0503030403020204" pitchFamily="34" charset="0"/>
      <p:regular r:id="rId38"/>
      <p:bold r:id="rId39"/>
      <p:italic r:id="rId40"/>
      <p:boldItalic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3938"/>
    <a:srgbClr val="CF202F"/>
    <a:srgbClr val="989898"/>
    <a:srgbClr val="F2F2F2"/>
    <a:srgbClr val="665757"/>
    <a:srgbClr val="7F7F7F"/>
    <a:srgbClr val="404040"/>
    <a:srgbClr val="595959"/>
    <a:srgbClr val="3F3F3F"/>
    <a:srgbClr val="CD172D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5181" autoAdjust="0"/>
  </p:normalViewPr>
  <p:slideViewPr>
    <p:cSldViewPr snapToGrid="0">
      <p:cViewPr varScale="1">
        <p:scale>
          <a:sx n="105" d="100"/>
          <a:sy n="105" d="100"/>
        </p:scale>
        <p:origin x="774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-6" y="-18"/>
    </p:cViewPr>
  </p:notesTextViewPr>
  <p:notesViewPr>
    <p:cSldViewPr snapToGrid="0">
      <p:cViewPr varScale="1">
        <p:scale>
          <a:sx n="64" d="100"/>
          <a:sy n="64" d="100"/>
        </p:scale>
        <p:origin x="3118" y="1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17.xml"/><Relationship Id="rId34" Type="http://schemas.openxmlformats.org/officeDocument/2006/relationships/font" Target="fonts/font9.fntdata"/><Relationship Id="rId42" Type="http://schemas.openxmlformats.org/officeDocument/2006/relationships/commentAuthors" Target="comment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6.fntdata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font" Target="fonts/font16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6"/>
            <c:spPr>
              <a:solidFill>
                <a:srgbClr val="B91C1C"/>
              </a:solidFill>
              <a:ln w="9525" cap="flat">
                <a:solidFill>
                  <a:srgbClr val="B91C1C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12000</c:v>
                </c:pt>
                <c:pt idx="1">
                  <c:v>13500</c:v>
                </c:pt>
                <c:pt idx="2">
                  <c:v>14800</c:v>
                </c:pt>
                <c:pt idx="3">
                  <c:v>16000</c:v>
                </c:pt>
                <c:pt idx="4">
                  <c:v>17500</c:v>
                </c:pt>
                <c:pt idx="5">
                  <c:v>18800</c:v>
                </c:pt>
                <c:pt idx="6">
                  <c:v>20500</c:v>
                </c:pt>
                <c:pt idx="7">
                  <c:v>21900</c:v>
                </c:pt>
                <c:pt idx="8">
                  <c:v>23200</c:v>
                </c:pt>
                <c:pt idx="9">
                  <c:v>24500</c:v>
                </c:pt>
                <c:pt idx="10">
                  <c:v>25800</c:v>
                </c:pt>
                <c:pt idx="11">
                  <c:v>27200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77200</c:v>
                </c:pt>
                <c:pt idx="1">
                  <c:v>86100</c:v>
                </c:pt>
                <c:pt idx="2">
                  <c:v>88800</c:v>
                </c:pt>
                <c:pt idx="3">
                  <c:v>97900</c:v>
                </c:pt>
                <c:pt idx="4">
                  <c:v>101400</c:v>
                </c:pt>
                <c:pt idx="5">
                  <c:v>114600</c:v>
                </c:pt>
                <c:pt idx="6">
                  <c:v>116100</c:v>
                </c:pt>
                <c:pt idx="7">
                  <c:v>129800</c:v>
                </c:pt>
                <c:pt idx="8">
                  <c:v>131200</c:v>
                </c:pt>
                <c:pt idx="9">
                  <c:v>143900</c:v>
                </c:pt>
                <c:pt idx="10">
                  <c:v>147300</c:v>
                </c:pt>
                <c:pt idx="11">
                  <c:v>160900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71C-4E6A-BAEF-B826BAACB00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predictions</c:v>
                </c:pt>
              </c:strCache>
            </c:strRef>
          </c:tx>
          <c:spPr>
            <a:ln w="25400" cap="flat">
              <a:solidFill>
                <a:srgbClr val="1F2937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12000</c:v>
                </c:pt>
                <c:pt idx="1">
                  <c:v>13500</c:v>
                </c:pt>
                <c:pt idx="2">
                  <c:v>14800</c:v>
                </c:pt>
                <c:pt idx="3">
                  <c:v>16000</c:v>
                </c:pt>
                <c:pt idx="4">
                  <c:v>17500</c:v>
                </c:pt>
                <c:pt idx="5">
                  <c:v>18800</c:v>
                </c:pt>
                <c:pt idx="6">
                  <c:v>20500</c:v>
                </c:pt>
                <c:pt idx="7">
                  <c:v>21900</c:v>
                </c:pt>
                <c:pt idx="8">
                  <c:v>23200</c:v>
                </c:pt>
                <c:pt idx="9">
                  <c:v>24500</c:v>
                </c:pt>
                <c:pt idx="10">
                  <c:v>25800</c:v>
                </c:pt>
                <c:pt idx="11">
                  <c:v>27200</c:v>
                </c:pt>
              </c:numCache>
            </c:numRef>
          </c:xVal>
          <c:yVal>
            <c:numRef>
              <c:f>Sheet1!$C$2:$C$13</c:f>
              <c:numCache>
                <c:formatCode>General</c:formatCode>
                <c:ptCount val="12"/>
                <c:pt idx="0">
                  <c:v>75647.292801288422</c:v>
                </c:pt>
                <c:pt idx="1">
                  <c:v>83620.561389912284</c:v>
                </c:pt>
                <c:pt idx="2">
                  <c:v>90530.727500052963</c:v>
                </c:pt>
                <c:pt idx="3">
                  <c:v>96909.342370952058</c:v>
                </c:pt>
                <c:pt idx="4">
                  <c:v>104882.61095957592</c:v>
                </c:pt>
                <c:pt idx="5">
                  <c:v>111792.7770697166</c:v>
                </c:pt>
                <c:pt idx="6">
                  <c:v>120829.14813682364</c:v>
                </c:pt>
                <c:pt idx="7">
                  <c:v>128270.86548620592</c:v>
                </c:pt>
                <c:pt idx="8">
                  <c:v>135181.03159634658</c:v>
                </c:pt>
                <c:pt idx="9">
                  <c:v>142091.19770648729</c:v>
                </c:pt>
                <c:pt idx="10">
                  <c:v>149001.36381662797</c:v>
                </c:pt>
                <c:pt idx="11">
                  <c:v>156443.08116601023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71C-4E6A-BAEF-B826BAACB0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2D2D2D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D23F457-C9F8-EE34-4D57-909A3921F9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7AEC15-76D3-99AC-F43C-C82A25141B0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71FB24-5C8E-483D-AA46-E21B700099DE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D8B0E8-597A-1B64-1642-B5024D95706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AAEAE0-5182-566A-8837-294FF0A217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F7F5CE-420F-4FE8-B902-B7DAD1FAA1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3529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CA6AF8-665F-4FC6-A102-0FB6C6F40370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33A606-A3EA-4C00-95FE-0C2B5DB3C1B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035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our roadmap for the session -- we're building from raw data all the way to a working predictive model, so each section feeds into the next.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we model anything, we need to know what we're working with. This marketing dataset gives us a realistic business scenario where spend, traffic, and revenue are all connected.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correlation? Because before we predict anything, we need to know which variables actually move together -- and how strongly. That's what Pearson r tells us in a single number.</a:t>
            </a:r>
          </a:p>
          <a:p>
            <a:r>
              <a:rPr lang="en-US" b="1" dirty="0"/>
              <a:t>Ask: If r = 0.6, would you call that strong or weak -- and why?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heatmap lets you scan dozens of variable pairs at once instead of computing r one by one. The dark clusters immediately tell you where the strongest relationships live.</a:t>
            </a:r>
          </a:p>
          <a:p>
            <a:r>
              <a:rPr lang="en-US" b="1" dirty="0"/>
              <a:t>Ask: Which variable pair here surprises you the most?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Walking through the formula by hand makes the math tangible -- you see that correlation is really just asking how much X and Y move together relative to how much they move on their own.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Correlation tells us variables are related, but regression takes the next step: it gives us a formula to actually predict one from the other. That's the leap from observation to action.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Getting the input-output framing right is critical because every supervised learning problem starts here -- which variable are we trying to predict, and what are we using to predict it?</a:t>
            </a:r>
          </a:p>
          <a:p>
            <a:r>
              <a:rPr lang="en-US" b="1" dirty="0"/>
              <a:t>Ask: If we flipped X and Y, what would we be predicting -- and would that make business sense?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slope and intercept are the two numbers that define our model. Once you have them, you can plug in any spend value and get a revenue forecast -- that's the power of a simple equation.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often confuse these two. The key distinction: correlation measures strength of a relationship, regression builds a predictive tool. One is a number, the other is an equation.</a:t>
            </a:r>
          </a:p>
          <a:p>
            <a:r>
              <a:rPr lang="en-US" b="1" dirty="0"/>
              <a:t>Ask: When would correlation alone be enough, and when would you need regression?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Residuals are how we keep the model honest. If predictions were perfect, residuals would all be zero -- so their size and pattern tell us exactly where and how the model falls short.</a:t>
            </a:r>
          </a:p>
          <a:p>
            <a:r>
              <a:rPr lang="en-US" b="1" dirty="0"/>
              <a:t>Ask: If all your residuals are positive, what does that tell you about the model?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plot is the visual gut-check: if the dots hug the line, we have a good model. Points far from the line are worth investigating -- they might reveal data issues or edge cases.</a:t>
            </a:r>
          </a:p>
          <a:p>
            <a:r>
              <a:rPr lang="en-US" b="1" dirty="0"/>
              <a:t>Ask: Do you spot any outliers here? What might explain them?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R-squared answers the question every stakeholder asks: how much of the outcome does our model actually explain? A value near 1 means almost all the variation is captured.</a:t>
            </a:r>
          </a:p>
          <a:p>
            <a:r>
              <a:rPr lang="en-US" b="1" dirty="0"/>
              <a:t>Ask: What R-squared would you need before trusting a model for real budget decisions?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RMSE converts model error into the same units as your target variable, so you can say the model is typically off by about this many dollars -- that's intuitive for business decisions.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code it from scratch first so you understand what the library is doing under the hood. When something breaks later, you'll know where to look.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numbers are the full story of our model: how steep the relationship is, where it starts, how well it fits, how large the errors are, and how strong the correlation is.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we translate model outputs into business language. A slope of 5.32 means roughly five dollars back for every dollar spent -- but we always flag that correlation isn't causation.</a:t>
            </a:r>
          </a:p>
          <a:p>
            <a:r>
              <a:rPr lang="en-US" b="1" dirty="0"/>
              <a:t>Ask: Based on these results, would you increase the marketing budget? What else would you want to know first?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FE00495D-59F0-DB26-B5CB-EDF644C72F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4"/>
          <a:stretch>
            <a:fillRect/>
          </a:stretch>
        </p:blipFill>
        <p:spPr>
          <a:xfrm>
            <a:off x="0" y="0"/>
            <a:ext cx="12192000" cy="6782468"/>
          </a:xfrm>
          <a:prstGeom prst="rect">
            <a:avLst/>
          </a:prstGeom>
        </p:spPr>
      </p:pic>
      <p:sp>
        <p:nvSpPr>
          <p:cNvPr id="11" name="Title 24">
            <a:extLst>
              <a:ext uri="{FF2B5EF4-FFF2-40B4-BE49-F238E27FC236}">
                <a16:creationId xmlns:a16="http://schemas.microsoft.com/office/drawing/2014/main" id="{0AD83C05-AAB1-1EB7-C60C-159D9FDC7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4137"/>
            <a:ext cx="8510337" cy="3983569"/>
          </a:xfrm>
        </p:spPr>
        <p:txBody>
          <a:bodyPr>
            <a:normAutofit/>
          </a:bodyPr>
          <a:lstStyle>
            <a:lvl1pPr>
              <a:defRPr sz="5400">
                <a:solidFill>
                  <a:srgbClr val="383938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BA17380F-F92F-CA4F-756B-F6E5EB3D84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962516"/>
            <a:ext cx="5990863" cy="433747"/>
          </a:xfrm>
        </p:spPr>
        <p:txBody>
          <a:bodyPr anchor="ctr">
            <a:noAutofit/>
          </a:bodyPr>
          <a:lstStyle>
            <a:lvl1pPr marL="0" indent="0">
              <a:buNone/>
              <a:defRPr sz="1800" i="0"/>
            </a:lvl1pPr>
          </a:lstStyle>
          <a:p>
            <a:pPr lvl="0"/>
            <a:r>
              <a:rPr lang="en-US" dirty="0"/>
              <a:t>[Name of </a:t>
            </a:r>
            <a:r>
              <a:rPr lang="en-US" dirty="0" err="1"/>
              <a:t>Presentor</a:t>
            </a:r>
            <a:r>
              <a:rPr lang="en-US" dirty="0"/>
              <a:t>], Job Title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F890C58A-679B-F70F-A634-488A8F0682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5478925"/>
            <a:ext cx="5990863" cy="433747"/>
          </a:xfrm>
        </p:spPr>
        <p:txBody>
          <a:bodyPr anchor="ctr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[Name of </a:t>
            </a:r>
            <a:r>
              <a:rPr lang="en-US" dirty="0" err="1"/>
              <a:t>Presentor</a:t>
            </a:r>
            <a:r>
              <a:rPr lang="en-US" dirty="0"/>
              <a:t>], Job Title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2CAB5B-178C-3B76-DAE2-E7142C3760CA}"/>
              </a:ext>
            </a:extLst>
          </p:cNvPr>
          <p:cNvSpPr txBox="1"/>
          <p:nvPr userDrawn="1"/>
        </p:nvSpPr>
        <p:spPr>
          <a:xfrm>
            <a:off x="391245" y="6443913"/>
            <a:ext cx="44453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800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ource Sans Pro" panose="020B0503030403020204" pitchFamily="34" charset="0"/>
              </a:rPr>
              <a:t>The content of this presentation is proprietary and confidential information of Open </a:t>
            </a:r>
            <a:r>
              <a:rPr lang="en-US" sz="800" b="0" i="1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ource Sans Pro" panose="020B0503030403020204" pitchFamily="34" charset="0"/>
              </a:rPr>
              <a:t>iT.</a:t>
            </a:r>
            <a:r>
              <a:rPr lang="en-US" sz="800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ource Sans Pro" panose="020B0503030403020204" pitchFamily="34" charset="0"/>
              </a:rPr>
              <a:t> </a:t>
            </a:r>
            <a:endParaRPr lang="en-US" sz="800" b="0" i="1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800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ource Sans Pro" panose="020B0503030403020204" pitchFamily="34" charset="0"/>
              </a:rPr>
              <a:t>It is not intended to be distributed to any third party without written consent of Open iT</a:t>
            </a:r>
            <a:endParaRPr lang="en-US" sz="800" b="0" i="1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50C1BC-32D2-302D-95DD-33B70C41A33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317" y="6246271"/>
            <a:ext cx="1230966" cy="49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864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7ED2B4-F3E1-7EE9-B204-0D25761A97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4"/>
          <a:stretch>
            <a:fillRect/>
          </a:stretch>
        </p:blipFill>
        <p:spPr>
          <a:xfrm>
            <a:off x="0" y="0"/>
            <a:ext cx="12192000" cy="6782468"/>
          </a:xfrm>
          <a:prstGeom prst="rect">
            <a:avLst/>
          </a:prstGeom>
        </p:spPr>
      </p:pic>
      <p:sp>
        <p:nvSpPr>
          <p:cNvPr id="11" name="Title 24">
            <a:extLst>
              <a:ext uri="{FF2B5EF4-FFF2-40B4-BE49-F238E27FC236}">
                <a16:creationId xmlns:a16="http://schemas.microsoft.com/office/drawing/2014/main" id="{0AD83C05-AAB1-1EB7-C60C-159D9FDC7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8557"/>
            <a:ext cx="4590327" cy="4199149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BA17380F-F92F-CA4F-756B-F6E5EB3D84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962516"/>
            <a:ext cx="5990863" cy="433747"/>
          </a:xfrm>
        </p:spPr>
        <p:txBody>
          <a:bodyPr anchor="ctr">
            <a:noAutofit/>
          </a:bodyPr>
          <a:lstStyle>
            <a:lvl1pPr marL="0" indent="0">
              <a:buNone/>
              <a:defRPr sz="1800" i="0"/>
            </a:lvl1pPr>
          </a:lstStyle>
          <a:p>
            <a:pPr lvl="0"/>
            <a:r>
              <a:rPr lang="en-US" dirty="0"/>
              <a:t>[Name of </a:t>
            </a:r>
            <a:r>
              <a:rPr lang="en-US" dirty="0" err="1"/>
              <a:t>Presentor</a:t>
            </a:r>
            <a:r>
              <a:rPr lang="en-US" dirty="0"/>
              <a:t>], Job Title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F890C58A-679B-F70F-A634-488A8F0682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5478925"/>
            <a:ext cx="5990863" cy="433747"/>
          </a:xfrm>
        </p:spPr>
        <p:txBody>
          <a:bodyPr anchor="ctr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[Name of </a:t>
            </a:r>
            <a:r>
              <a:rPr lang="en-US" dirty="0" err="1"/>
              <a:t>Presentor</a:t>
            </a:r>
            <a:r>
              <a:rPr lang="en-US" dirty="0"/>
              <a:t>], Job Title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AB6DF9C6-0236-A690-6B51-E1B4A6B47B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5995333"/>
            <a:ext cx="5990863" cy="433747"/>
          </a:xfrm>
        </p:spPr>
        <p:txBody>
          <a:bodyPr anchor="ctr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[Name of </a:t>
            </a:r>
            <a:r>
              <a:rPr lang="en-US" dirty="0" err="1"/>
              <a:t>Presentor</a:t>
            </a:r>
            <a:r>
              <a:rPr lang="en-US" dirty="0"/>
              <a:t>], Job Title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2CAB5B-178C-3B76-DAE2-E7142C3760CA}"/>
              </a:ext>
            </a:extLst>
          </p:cNvPr>
          <p:cNvSpPr txBox="1"/>
          <p:nvPr userDrawn="1"/>
        </p:nvSpPr>
        <p:spPr>
          <a:xfrm>
            <a:off x="391245" y="6443913"/>
            <a:ext cx="44453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800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ource Sans Pro" panose="020B0503030403020204" pitchFamily="34" charset="0"/>
              </a:rPr>
              <a:t>The content of this presentation is proprietary and confidential information of Open </a:t>
            </a:r>
            <a:r>
              <a:rPr lang="en-US" sz="800" b="0" i="1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ource Sans Pro" panose="020B0503030403020204" pitchFamily="34" charset="0"/>
              </a:rPr>
              <a:t>iT.</a:t>
            </a:r>
            <a:r>
              <a:rPr lang="en-US" sz="800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ource Sans Pro" panose="020B0503030403020204" pitchFamily="34" charset="0"/>
              </a:rPr>
              <a:t> </a:t>
            </a:r>
            <a:endParaRPr lang="en-US" sz="800" b="0" i="1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800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ource Sans Pro" panose="020B0503030403020204" pitchFamily="34" charset="0"/>
              </a:rPr>
              <a:t>It is not intended to be distributed to any third party without written consent of Open iT</a:t>
            </a:r>
            <a:endParaRPr lang="en-US" sz="800" b="0" i="1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46CDE7B-66AF-7058-3F6D-1861F6135C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72863" y="517358"/>
            <a:ext cx="2627977" cy="249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066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B745D8F-22E3-8579-FF06-0AE4D9E9F9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4"/>
          <a:stretch>
            <a:fillRect/>
          </a:stretch>
        </p:blipFill>
        <p:spPr>
          <a:xfrm>
            <a:off x="0" y="0"/>
            <a:ext cx="12192000" cy="6782468"/>
          </a:xfrm>
          <a:prstGeom prst="rect">
            <a:avLst/>
          </a:prstGeom>
        </p:spPr>
      </p:pic>
      <p:sp>
        <p:nvSpPr>
          <p:cNvPr id="11" name="Title 24">
            <a:extLst>
              <a:ext uri="{FF2B5EF4-FFF2-40B4-BE49-F238E27FC236}">
                <a16:creationId xmlns:a16="http://schemas.microsoft.com/office/drawing/2014/main" id="{0AD83C05-AAB1-1EB7-C60C-159D9FDC7E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770" y="910292"/>
            <a:ext cx="2901297" cy="1010324"/>
          </a:xfrm>
        </p:spPr>
        <p:txBody>
          <a:bodyPr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647C11-B7F0-1037-D32C-A04FA9781C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87799" y="910292"/>
            <a:ext cx="7981484" cy="5050241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9698705-95F1-370C-463D-D7BE5CBD03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4270" y="3904025"/>
            <a:ext cx="2627977" cy="249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954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F2AE74D-C1F4-EC86-6815-7DBB3C9C8E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4"/>
          <a:stretch>
            <a:fillRect/>
          </a:stretch>
        </p:blipFill>
        <p:spPr>
          <a:xfrm>
            <a:off x="0" y="0"/>
            <a:ext cx="12192000" cy="678246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AEB1F-1D18-49E2-BC00-2D07A44B8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833"/>
            <a:ext cx="10515600" cy="4801130"/>
          </a:xfrm>
        </p:spPr>
        <p:txBody>
          <a:bodyPr/>
          <a:lstStyle>
            <a:lvl2pPr marL="685800" indent="-228600">
              <a:buFont typeface="Source Sans Pro" panose="020B0503030403020204" pitchFamily="34" charset="0"/>
              <a:buChar char="–"/>
              <a:defRPr/>
            </a:lvl2pPr>
            <a:lvl3pPr marL="1143000" indent="-228600">
              <a:buFont typeface="Wingdings" panose="05000000000000000000" pitchFamily="2" charset="2"/>
              <a:buChar char="§"/>
              <a:defRPr lang="en-US" dirty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3F55092-D245-DE4B-0FB0-6EF6CA29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3160C0A-486A-76E9-6320-E214A13446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C5F444-DFA9-C47B-1E21-45A21E5660B2}"/>
              </a:ext>
            </a:extLst>
          </p:cNvPr>
          <p:cNvSpPr txBox="1"/>
          <p:nvPr userDrawn="1"/>
        </p:nvSpPr>
        <p:spPr>
          <a:xfrm>
            <a:off x="708211" y="6532066"/>
            <a:ext cx="5154109" cy="215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© 2026 Open iT, Inc. All rights reserved. Company Confidential. </a:t>
            </a:r>
            <a:r>
              <a:rPr lang="en-PH" dirty="0"/>
              <a:t>ISO/IEC 27001:2022 Certified | BARR Certifications.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B718DFB-F25F-8B51-B4A0-C9F280249C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24204" y="6292877"/>
            <a:ext cx="1693700" cy="49320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C4008F49-8B49-644F-BDED-2C5018AE767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72863" y="517358"/>
            <a:ext cx="2627977" cy="24939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ECD9DD-ABD7-DD52-1729-0EBC001764D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317" y="6246271"/>
            <a:ext cx="1230966" cy="49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326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AE1BC0-B3AF-179B-D068-466BFFDE71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4"/>
          <a:stretch>
            <a:fillRect/>
          </a:stretch>
        </p:blipFill>
        <p:spPr>
          <a:xfrm>
            <a:off x="0" y="0"/>
            <a:ext cx="12192000" cy="67824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5968D7-D6D9-A8F4-6AC1-FFF7C24FD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7358"/>
            <a:ext cx="10515600" cy="6939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76BB0-8DD0-89E9-9C69-42C31F2F03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92DE38-1143-1205-774D-F99D5C4402A2}"/>
              </a:ext>
            </a:extLst>
          </p:cNvPr>
          <p:cNvSpPr txBox="1"/>
          <p:nvPr userDrawn="1"/>
        </p:nvSpPr>
        <p:spPr>
          <a:xfrm>
            <a:off x="708211" y="6532066"/>
            <a:ext cx="5057589" cy="215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© 2026 Open iT, Inc. All rights reserved. Company Confidential. </a:t>
            </a:r>
            <a:r>
              <a:rPr lang="en-PH" dirty="0"/>
              <a:t>ISO/IEC 27001:2022 Certified | BARR Certifications.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9FDC938-7D9D-6C6F-C5C1-EFE2651DDE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24204" y="6292877"/>
            <a:ext cx="1693700" cy="49320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554ACD5-4058-BECA-F23C-62B794753E4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72863" y="517358"/>
            <a:ext cx="2627977" cy="24939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69BD30-0EA0-CE6B-B287-586D2096A8F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317" y="6246271"/>
            <a:ext cx="1230966" cy="49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432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E5B8755-F367-D3BD-614D-5A4382BCB9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4"/>
          <a:stretch>
            <a:fillRect/>
          </a:stretch>
        </p:blipFill>
        <p:spPr>
          <a:xfrm>
            <a:off x="0" y="0"/>
            <a:ext cx="12192000" cy="678246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24433-77BF-D68A-D92F-83EB87827E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7E39CB-6548-DCD3-9466-4966ED65B1C9}"/>
              </a:ext>
            </a:extLst>
          </p:cNvPr>
          <p:cNvSpPr txBox="1"/>
          <p:nvPr userDrawn="1"/>
        </p:nvSpPr>
        <p:spPr>
          <a:xfrm>
            <a:off x="708211" y="6532066"/>
            <a:ext cx="5022029" cy="215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© 2026 Open iT, Inc. All rights reserved. Company Confidential. </a:t>
            </a:r>
            <a:r>
              <a:rPr lang="en-PH" dirty="0"/>
              <a:t>ISO/IEC 27001:2022 Certified | BARR Certifications.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481B961-9FC2-6555-2CD4-22DA0F3AC3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24204" y="6292877"/>
            <a:ext cx="1693700" cy="49320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9E8F150-C826-898B-57E5-8304FEF528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72863" y="517358"/>
            <a:ext cx="2627977" cy="24939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AF6466-0E92-1953-4EF1-707F2A7A185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317" y="6246271"/>
            <a:ext cx="1230966" cy="49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039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7163323-E965-B89F-1EB1-F47F5E4392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4"/>
          <a:stretch>
            <a:fillRect/>
          </a:stretch>
        </p:blipFill>
        <p:spPr>
          <a:xfrm>
            <a:off x="0" y="0"/>
            <a:ext cx="12192000" cy="678246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52774A5-0132-9662-B057-FE9A61583B6A}"/>
              </a:ext>
            </a:extLst>
          </p:cNvPr>
          <p:cNvSpPr/>
          <p:nvPr userDrawn="1"/>
        </p:nvSpPr>
        <p:spPr>
          <a:xfrm>
            <a:off x="455705" y="606424"/>
            <a:ext cx="9259795" cy="2454275"/>
          </a:xfrm>
          <a:prstGeom prst="roundRect">
            <a:avLst>
              <a:gd name="adj" fmla="val 21813"/>
            </a:avLst>
          </a:prstGeom>
          <a:gradFill flip="none" rotWithShape="1">
            <a:gsLst>
              <a:gs pos="0">
                <a:schemeClr val="tx2">
                  <a:shade val="30000"/>
                  <a:satMod val="115000"/>
                </a:schemeClr>
              </a:gs>
              <a:gs pos="50000">
                <a:schemeClr val="tx2">
                  <a:shade val="67500"/>
                  <a:satMod val="115000"/>
                </a:schemeClr>
              </a:gs>
              <a:gs pos="100000">
                <a:schemeClr val="tx2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64141D3-55E9-3038-3AB1-5B88A5553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688" y="848518"/>
            <a:ext cx="7550611" cy="2008982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C8EA92-54A5-2BFE-7366-C84329A80B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52537" y="3469216"/>
            <a:ext cx="6803531" cy="1052513"/>
          </a:xfrm>
        </p:spPr>
        <p:txBody>
          <a:bodyPr>
            <a:normAutofit/>
          </a:bodyPr>
          <a:lstStyle>
            <a:lvl1pPr marL="0" indent="0"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subtopic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4D32C-4678-48FC-6C42-4FE0408EA8B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60C32B-384F-915E-D458-6250AEF4999C}"/>
              </a:ext>
            </a:extLst>
          </p:cNvPr>
          <p:cNvSpPr txBox="1"/>
          <p:nvPr userDrawn="1"/>
        </p:nvSpPr>
        <p:spPr>
          <a:xfrm>
            <a:off x="708211" y="6532066"/>
            <a:ext cx="5019489" cy="215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© 2026 Open iT, Inc. All rights reserved. Company Confidential. </a:t>
            </a:r>
            <a:r>
              <a:rPr lang="en-PH" dirty="0"/>
              <a:t>ISO/IEC 27001:2022 Certified | BARR Certifications.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8B2F7F5-51AC-84D3-983F-EDCAE2BBC6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24204" y="6292877"/>
            <a:ext cx="1693700" cy="49320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AFD9206-EE3E-8C1B-43CA-4E21047617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03915" y="3634059"/>
            <a:ext cx="2627977" cy="24939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8670E1-DF83-CC17-70EB-03075A5B97F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317" y="6246271"/>
            <a:ext cx="1230966" cy="49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454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act Slid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E1E16C-5742-CCF2-82DF-13A3F9988E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4"/>
          <a:stretch>
            <a:fillRect/>
          </a:stretch>
        </p:blipFill>
        <p:spPr>
          <a:xfrm>
            <a:off x="0" y="0"/>
            <a:ext cx="12192000" cy="678246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C5D32C5-77A6-4C8B-482E-E98C449C69BB}"/>
              </a:ext>
            </a:extLst>
          </p:cNvPr>
          <p:cNvSpPr/>
          <p:nvPr userDrawn="1"/>
        </p:nvSpPr>
        <p:spPr>
          <a:xfrm>
            <a:off x="10661905" y="6163235"/>
            <a:ext cx="1413554" cy="5602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7CFCC-1AAE-99E8-8CBD-353126793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051635-DD50-3914-D49C-80B6A29758FA}"/>
              </a:ext>
            </a:extLst>
          </p:cNvPr>
          <p:cNvSpPr txBox="1"/>
          <p:nvPr userDrawn="1"/>
        </p:nvSpPr>
        <p:spPr>
          <a:xfrm>
            <a:off x="708211" y="6532066"/>
            <a:ext cx="5072829" cy="215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© 2026 Open iT, Inc. All rights reserved. Company Confidential. </a:t>
            </a:r>
            <a:r>
              <a:rPr lang="en-PH" dirty="0"/>
              <a:t>ISO/IEC 27001:2022 Certified | BARR Certifications.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432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A983234-BF24-6C64-8F4D-1EDA2A782E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4"/>
          <a:stretch>
            <a:fillRect/>
          </a:stretch>
        </p:blipFill>
        <p:spPr>
          <a:xfrm>
            <a:off x="0" y="0"/>
            <a:ext cx="12192000" cy="6782468"/>
          </a:xfrm>
          <a:prstGeom prst="rect">
            <a:avLst/>
          </a:prstGeom>
        </p:spPr>
      </p:pic>
      <p:pic>
        <p:nvPicPr>
          <p:cNvPr id="44" name="Picture Placeholder 22" descr="3D design of a city in white">
            <a:extLst>
              <a:ext uri="{FF2B5EF4-FFF2-40B4-BE49-F238E27FC236}">
                <a16:creationId xmlns:a16="http://schemas.microsoft.com/office/drawing/2014/main" id="{5D2548E1-4EBD-91F5-EDE7-9BBB3D6413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"/>
            <a:ext cx="12192000" cy="3539752"/>
          </a:xfrm>
          <a:prstGeom prst="rect">
            <a:avLst/>
          </a:prstGeom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C846D13-6AE0-C2A6-E408-D27EF9E6A9E1}"/>
              </a:ext>
            </a:extLst>
          </p:cNvPr>
          <p:cNvSpPr/>
          <p:nvPr userDrawn="1"/>
        </p:nvSpPr>
        <p:spPr>
          <a:xfrm>
            <a:off x="4401315" y="1697300"/>
            <a:ext cx="6961609" cy="428286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latin typeface="+mj-lt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6A86035-DCEC-7C25-3B75-43E52E785C93}"/>
              </a:ext>
            </a:extLst>
          </p:cNvPr>
          <p:cNvSpPr txBox="1"/>
          <p:nvPr userDrawn="1"/>
        </p:nvSpPr>
        <p:spPr>
          <a:xfrm>
            <a:off x="5656374" y="4429351"/>
            <a:ext cx="2290268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+1 281 599 3400</a:t>
            </a:r>
          </a:p>
        </p:txBody>
      </p:sp>
      <p:sp>
        <p:nvSpPr>
          <p:cNvPr id="49" name="Shape">
            <a:extLst>
              <a:ext uri="{FF2B5EF4-FFF2-40B4-BE49-F238E27FC236}">
                <a16:creationId xmlns:a16="http://schemas.microsoft.com/office/drawing/2014/main" id="{C86CAF21-9244-5E84-F1EF-DACA98ED01A3}"/>
              </a:ext>
            </a:extLst>
          </p:cNvPr>
          <p:cNvSpPr/>
          <p:nvPr userDrawn="1"/>
        </p:nvSpPr>
        <p:spPr>
          <a:xfrm>
            <a:off x="5196963" y="5157943"/>
            <a:ext cx="257999" cy="1874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cubicBezTo>
                  <a:pt x="1964" y="0"/>
                  <a:pt x="1964" y="0"/>
                  <a:pt x="1964" y="0"/>
                </a:cubicBezTo>
                <a:cubicBezTo>
                  <a:pt x="859" y="0"/>
                  <a:pt x="0" y="1181"/>
                  <a:pt x="0" y="2700"/>
                </a:cubicBezTo>
                <a:cubicBezTo>
                  <a:pt x="0" y="18900"/>
                  <a:pt x="0" y="18900"/>
                  <a:pt x="0" y="18900"/>
                </a:cubicBezTo>
                <a:cubicBezTo>
                  <a:pt x="0" y="20419"/>
                  <a:pt x="859" y="21600"/>
                  <a:pt x="1964" y="21600"/>
                </a:cubicBezTo>
                <a:cubicBezTo>
                  <a:pt x="19636" y="21600"/>
                  <a:pt x="19636" y="21600"/>
                  <a:pt x="19636" y="21600"/>
                </a:cubicBezTo>
                <a:cubicBezTo>
                  <a:pt x="20741" y="21600"/>
                  <a:pt x="21600" y="20419"/>
                  <a:pt x="21600" y="18900"/>
                </a:cubicBezTo>
                <a:cubicBezTo>
                  <a:pt x="21600" y="2700"/>
                  <a:pt x="21600" y="2700"/>
                  <a:pt x="21600" y="2700"/>
                </a:cubicBezTo>
                <a:cubicBezTo>
                  <a:pt x="21600" y="1181"/>
                  <a:pt x="20741" y="0"/>
                  <a:pt x="19636" y="0"/>
                </a:cubicBezTo>
                <a:moveTo>
                  <a:pt x="1964" y="1350"/>
                </a:moveTo>
                <a:cubicBezTo>
                  <a:pt x="19636" y="1350"/>
                  <a:pt x="19636" y="1350"/>
                  <a:pt x="19636" y="1350"/>
                </a:cubicBezTo>
                <a:cubicBezTo>
                  <a:pt x="19759" y="1350"/>
                  <a:pt x="19882" y="1350"/>
                  <a:pt x="20005" y="1350"/>
                </a:cubicBezTo>
                <a:cubicBezTo>
                  <a:pt x="11414" y="13163"/>
                  <a:pt x="11414" y="13163"/>
                  <a:pt x="11414" y="13163"/>
                </a:cubicBezTo>
                <a:cubicBezTo>
                  <a:pt x="11291" y="13331"/>
                  <a:pt x="11045" y="13500"/>
                  <a:pt x="10800" y="13500"/>
                </a:cubicBezTo>
                <a:cubicBezTo>
                  <a:pt x="10555" y="13500"/>
                  <a:pt x="10309" y="13331"/>
                  <a:pt x="10186" y="13163"/>
                </a:cubicBezTo>
                <a:cubicBezTo>
                  <a:pt x="1595" y="1350"/>
                  <a:pt x="1595" y="1350"/>
                  <a:pt x="1595" y="1350"/>
                </a:cubicBezTo>
                <a:cubicBezTo>
                  <a:pt x="1718" y="1350"/>
                  <a:pt x="1841" y="1350"/>
                  <a:pt x="1964" y="1350"/>
                </a:cubicBezTo>
                <a:moveTo>
                  <a:pt x="982" y="18900"/>
                </a:moveTo>
                <a:cubicBezTo>
                  <a:pt x="982" y="2700"/>
                  <a:pt x="982" y="2700"/>
                  <a:pt x="982" y="2700"/>
                </a:cubicBezTo>
                <a:cubicBezTo>
                  <a:pt x="982" y="2700"/>
                  <a:pt x="982" y="2531"/>
                  <a:pt x="982" y="2531"/>
                </a:cubicBezTo>
                <a:cubicBezTo>
                  <a:pt x="7118" y="10800"/>
                  <a:pt x="7118" y="10800"/>
                  <a:pt x="7118" y="10800"/>
                </a:cubicBezTo>
                <a:cubicBezTo>
                  <a:pt x="982" y="19069"/>
                  <a:pt x="982" y="19069"/>
                  <a:pt x="982" y="19069"/>
                </a:cubicBezTo>
                <a:cubicBezTo>
                  <a:pt x="982" y="19069"/>
                  <a:pt x="982" y="18900"/>
                  <a:pt x="982" y="18900"/>
                </a:cubicBezTo>
                <a:moveTo>
                  <a:pt x="19636" y="20250"/>
                </a:moveTo>
                <a:cubicBezTo>
                  <a:pt x="1964" y="20250"/>
                  <a:pt x="1964" y="20250"/>
                  <a:pt x="1964" y="20250"/>
                </a:cubicBezTo>
                <a:cubicBezTo>
                  <a:pt x="1841" y="20250"/>
                  <a:pt x="1718" y="20250"/>
                  <a:pt x="1595" y="20250"/>
                </a:cubicBezTo>
                <a:cubicBezTo>
                  <a:pt x="7732" y="11812"/>
                  <a:pt x="7732" y="11812"/>
                  <a:pt x="7732" y="11812"/>
                </a:cubicBezTo>
                <a:cubicBezTo>
                  <a:pt x="9450" y="14006"/>
                  <a:pt x="9450" y="14006"/>
                  <a:pt x="9450" y="14006"/>
                </a:cubicBezTo>
                <a:cubicBezTo>
                  <a:pt x="9818" y="14512"/>
                  <a:pt x="10309" y="14850"/>
                  <a:pt x="10800" y="14850"/>
                </a:cubicBezTo>
                <a:cubicBezTo>
                  <a:pt x="11291" y="14850"/>
                  <a:pt x="11782" y="14512"/>
                  <a:pt x="12150" y="14006"/>
                </a:cubicBezTo>
                <a:cubicBezTo>
                  <a:pt x="13868" y="11812"/>
                  <a:pt x="13868" y="11812"/>
                  <a:pt x="13868" y="11812"/>
                </a:cubicBezTo>
                <a:cubicBezTo>
                  <a:pt x="20005" y="20250"/>
                  <a:pt x="20005" y="20250"/>
                  <a:pt x="20005" y="20250"/>
                </a:cubicBezTo>
                <a:cubicBezTo>
                  <a:pt x="19882" y="20250"/>
                  <a:pt x="19759" y="20250"/>
                  <a:pt x="19636" y="20250"/>
                </a:cubicBezTo>
                <a:moveTo>
                  <a:pt x="20618" y="18900"/>
                </a:moveTo>
                <a:cubicBezTo>
                  <a:pt x="20618" y="18900"/>
                  <a:pt x="20618" y="19069"/>
                  <a:pt x="20618" y="19069"/>
                </a:cubicBezTo>
                <a:cubicBezTo>
                  <a:pt x="14482" y="10800"/>
                  <a:pt x="14482" y="10800"/>
                  <a:pt x="14482" y="10800"/>
                </a:cubicBezTo>
                <a:cubicBezTo>
                  <a:pt x="20618" y="2531"/>
                  <a:pt x="20618" y="2531"/>
                  <a:pt x="20618" y="2531"/>
                </a:cubicBezTo>
                <a:cubicBezTo>
                  <a:pt x="20618" y="2531"/>
                  <a:pt x="20618" y="2700"/>
                  <a:pt x="20618" y="2700"/>
                </a:cubicBezTo>
                <a:lnTo>
                  <a:pt x="20618" y="18900"/>
                </a:lnTo>
                <a:close/>
              </a:path>
            </a:pathLst>
          </a:custGeom>
          <a:solidFill>
            <a:srgbClr val="CD172D"/>
          </a:solidFill>
          <a:ln w="12700">
            <a:noFill/>
            <a:miter lim="400000"/>
          </a:ln>
        </p:spPr>
        <p:txBody>
          <a:bodyPr lIns="45719" rIns="45719"/>
          <a:lstStyle/>
          <a:p>
            <a:endParaRPr dirty="0">
              <a:latin typeface="+mj-lt"/>
            </a:endParaRPr>
          </a:p>
        </p:txBody>
      </p:sp>
      <p:sp>
        <p:nvSpPr>
          <p:cNvPr id="50" name="Shape">
            <a:extLst>
              <a:ext uri="{FF2B5EF4-FFF2-40B4-BE49-F238E27FC236}">
                <a16:creationId xmlns:a16="http://schemas.microsoft.com/office/drawing/2014/main" id="{C3F02CD4-7EA0-3666-41C6-D476A33143D0}"/>
              </a:ext>
            </a:extLst>
          </p:cNvPr>
          <p:cNvSpPr/>
          <p:nvPr userDrawn="1"/>
        </p:nvSpPr>
        <p:spPr>
          <a:xfrm>
            <a:off x="5196963" y="4512598"/>
            <a:ext cx="257999" cy="2567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82" y="982"/>
                </a:moveTo>
                <a:cubicBezTo>
                  <a:pt x="16691" y="982"/>
                  <a:pt x="20618" y="4909"/>
                  <a:pt x="20618" y="9818"/>
                </a:cubicBezTo>
                <a:cubicBezTo>
                  <a:pt x="20618" y="10064"/>
                  <a:pt x="20864" y="10309"/>
                  <a:pt x="21109" y="10309"/>
                </a:cubicBezTo>
                <a:cubicBezTo>
                  <a:pt x="21355" y="10309"/>
                  <a:pt x="21600" y="10064"/>
                  <a:pt x="21600" y="9818"/>
                </a:cubicBezTo>
                <a:cubicBezTo>
                  <a:pt x="21600" y="4418"/>
                  <a:pt x="17182" y="0"/>
                  <a:pt x="11782" y="0"/>
                </a:cubicBezTo>
                <a:cubicBezTo>
                  <a:pt x="11536" y="0"/>
                  <a:pt x="11291" y="245"/>
                  <a:pt x="11291" y="491"/>
                </a:cubicBezTo>
                <a:cubicBezTo>
                  <a:pt x="11291" y="736"/>
                  <a:pt x="11536" y="982"/>
                  <a:pt x="11782" y="982"/>
                </a:cubicBezTo>
                <a:moveTo>
                  <a:pt x="11782" y="5891"/>
                </a:moveTo>
                <a:cubicBezTo>
                  <a:pt x="13991" y="5891"/>
                  <a:pt x="15709" y="7609"/>
                  <a:pt x="15709" y="9818"/>
                </a:cubicBezTo>
                <a:cubicBezTo>
                  <a:pt x="15709" y="10064"/>
                  <a:pt x="15955" y="10309"/>
                  <a:pt x="16200" y="10309"/>
                </a:cubicBezTo>
                <a:cubicBezTo>
                  <a:pt x="16445" y="10309"/>
                  <a:pt x="16691" y="10064"/>
                  <a:pt x="16691" y="9818"/>
                </a:cubicBezTo>
                <a:cubicBezTo>
                  <a:pt x="16691" y="7118"/>
                  <a:pt x="14482" y="4909"/>
                  <a:pt x="11782" y="4909"/>
                </a:cubicBezTo>
                <a:cubicBezTo>
                  <a:pt x="11536" y="4909"/>
                  <a:pt x="11291" y="5155"/>
                  <a:pt x="11291" y="5400"/>
                </a:cubicBezTo>
                <a:cubicBezTo>
                  <a:pt x="11291" y="5645"/>
                  <a:pt x="11536" y="5891"/>
                  <a:pt x="11782" y="5891"/>
                </a:cubicBezTo>
                <a:moveTo>
                  <a:pt x="11782" y="10800"/>
                </a:moveTo>
                <a:cubicBezTo>
                  <a:pt x="12273" y="10800"/>
                  <a:pt x="12764" y="10309"/>
                  <a:pt x="12764" y="9818"/>
                </a:cubicBezTo>
                <a:cubicBezTo>
                  <a:pt x="12764" y="9327"/>
                  <a:pt x="12273" y="8836"/>
                  <a:pt x="11782" y="8836"/>
                </a:cubicBezTo>
                <a:cubicBezTo>
                  <a:pt x="11291" y="8836"/>
                  <a:pt x="10800" y="9327"/>
                  <a:pt x="10800" y="9818"/>
                </a:cubicBezTo>
                <a:cubicBezTo>
                  <a:pt x="10800" y="10309"/>
                  <a:pt x="11291" y="10800"/>
                  <a:pt x="11782" y="10800"/>
                </a:cubicBezTo>
                <a:moveTo>
                  <a:pt x="21600" y="17182"/>
                </a:moveTo>
                <a:cubicBezTo>
                  <a:pt x="21600" y="16814"/>
                  <a:pt x="21477" y="16445"/>
                  <a:pt x="21109" y="16077"/>
                </a:cubicBezTo>
                <a:cubicBezTo>
                  <a:pt x="21109" y="16077"/>
                  <a:pt x="20986" y="15955"/>
                  <a:pt x="20864" y="15955"/>
                </a:cubicBezTo>
                <a:cubicBezTo>
                  <a:pt x="16691" y="12641"/>
                  <a:pt x="16691" y="12641"/>
                  <a:pt x="16691" y="12641"/>
                </a:cubicBezTo>
                <a:cubicBezTo>
                  <a:pt x="16445" y="12395"/>
                  <a:pt x="16077" y="12273"/>
                  <a:pt x="15709" y="12273"/>
                </a:cubicBezTo>
                <a:cubicBezTo>
                  <a:pt x="15341" y="12273"/>
                  <a:pt x="15095" y="12395"/>
                  <a:pt x="14850" y="12518"/>
                </a:cubicBezTo>
                <a:cubicBezTo>
                  <a:pt x="13623" y="13745"/>
                  <a:pt x="13623" y="13745"/>
                  <a:pt x="13623" y="13745"/>
                </a:cubicBezTo>
                <a:cubicBezTo>
                  <a:pt x="13623" y="13745"/>
                  <a:pt x="13623" y="13745"/>
                  <a:pt x="13623" y="13745"/>
                </a:cubicBezTo>
                <a:cubicBezTo>
                  <a:pt x="13500" y="13991"/>
                  <a:pt x="13255" y="14114"/>
                  <a:pt x="12886" y="14114"/>
                </a:cubicBezTo>
                <a:cubicBezTo>
                  <a:pt x="12641" y="14114"/>
                  <a:pt x="12273" y="13868"/>
                  <a:pt x="12150" y="13623"/>
                </a:cubicBezTo>
                <a:cubicBezTo>
                  <a:pt x="12150" y="13623"/>
                  <a:pt x="12150" y="13623"/>
                  <a:pt x="12150" y="13623"/>
                </a:cubicBezTo>
                <a:cubicBezTo>
                  <a:pt x="10555" y="12518"/>
                  <a:pt x="9082" y="11168"/>
                  <a:pt x="7855" y="9450"/>
                </a:cubicBezTo>
                <a:cubicBezTo>
                  <a:pt x="7977" y="9450"/>
                  <a:pt x="7977" y="9450"/>
                  <a:pt x="7977" y="9450"/>
                </a:cubicBezTo>
                <a:cubicBezTo>
                  <a:pt x="7732" y="9327"/>
                  <a:pt x="7486" y="8959"/>
                  <a:pt x="7486" y="8714"/>
                </a:cubicBezTo>
                <a:cubicBezTo>
                  <a:pt x="7486" y="8345"/>
                  <a:pt x="7609" y="8100"/>
                  <a:pt x="7855" y="7977"/>
                </a:cubicBezTo>
                <a:cubicBezTo>
                  <a:pt x="7855" y="7977"/>
                  <a:pt x="7855" y="7977"/>
                  <a:pt x="7855" y="7977"/>
                </a:cubicBezTo>
                <a:cubicBezTo>
                  <a:pt x="8959" y="6750"/>
                  <a:pt x="8959" y="6750"/>
                  <a:pt x="8959" y="6750"/>
                </a:cubicBezTo>
                <a:cubicBezTo>
                  <a:pt x="9205" y="6505"/>
                  <a:pt x="9327" y="6259"/>
                  <a:pt x="9327" y="5891"/>
                </a:cubicBezTo>
                <a:cubicBezTo>
                  <a:pt x="9327" y="5523"/>
                  <a:pt x="9205" y="5155"/>
                  <a:pt x="8836" y="4909"/>
                </a:cubicBezTo>
                <a:cubicBezTo>
                  <a:pt x="5645" y="736"/>
                  <a:pt x="5645" y="736"/>
                  <a:pt x="5645" y="736"/>
                </a:cubicBezTo>
                <a:cubicBezTo>
                  <a:pt x="5645" y="614"/>
                  <a:pt x="5523" y="491"/>
                  <a:pt x="5400" y="491"/>
                </a:cubicBezTo>
                <a:cubicBezTo>
                  <a:pt x="5155" y="123"/>
                  <a:pt x="4786" y="0"/>
                  <a:pt x="4418" y="0"/>
                </a:cubicBezTo>
                <a:cubicBezTo>
                  <a:pt x="2455" y="0"/>
                  <a:pt x="0" y="2332"/>
                  <a:pt x="0" y="5155"/>
                </a:cubicBezTo>
                <a:cubicBezTo>
                  <a:pt x="0" y="5891"/>
                  <a:pt x="123" y="6627"/>
                  <a:pt x="491" y="7364"/>
                </a:cubicBezTo>
                <a:cubicBezTo>
                  <a:pt x="491" y="7364"/>
                  <a:pt x="491" y="7364"/>
                  <a:pt x="491" y="7364"/>
                </a:cubicBezTo>
                <a:cubicBezTo>
                  <a:pt x="3436" y="13255"/>
                  <a:pt x="8345" y="18164"/>
                  <a:pt x="14236" y="21109"/>
                </a:cubicBezTo>
                <a:cubicBezTo>
                  <a:pt x="14236" y="21109"/>
                  <a:pt x="14236" y="21109"/>
                  <a:pt x="14236" y="21109"/>
                </a:cubicBezTo>
                <a:cubicBezTo>
                  <a:pt x="14850" y="21477"/>
                  <a:pt x="15709" y="21600"/>
                  <a:pt x="16445" y="21600"/>
                </a:cubicBezTo>
                <a:cubicBezTo>
                  <a:pt x="19268" y="21600"/>
                  <a:pt x="21600" y="19145"/>
                  <a:pt x="21600" y="17182"/>
                </a:cubicBezTo>
                <a:cubicBezTo>
                  <a:pt x="21600" y="17182"/>
                  <a:pt x="21600" y="17182"/>
                  <a:pt x="21600" y="17182"/>
                </a:cubicBezTo>
                <a:close/>
                <a:moveTo>
                  <a:pt x="16445" y="20618"/>
                </a:moveTo>
                <a:cubicBezTo>
                  <a:pt x="15832" y="20618"/>
                  <a:pt x="15218" y="20495"/>
                  <a:pt x="14605" y="20250"/>
                </a:cubicBezTo>
                <a:cubicBezTo>
                  <a:pt x="14605" y="20250"/>
                  <a:pt x="14605" y="20127"/>
                  <a:pt x="14482" y="20127"/>
                </a:cubicBezTo>
                <a:cubicBezTo>
                  <a:pt x="8959" y="17305"/>
                  <a:pt x="4295" y="12641"/>
                  <a:pt x="1473" y="7118"/>
                </a:cubicBezTo>
                <a:cubicBezTo>
                  <a:pt x="1473" y="6995"/>
                  <a:pt x="1350" y="6995"/>
                  <a:pt x="1350" y="6995"/>
                </a:cubicBezTo>
                <a:cubicBezTo>
                  <a:pt x="1105" y="6382"/>
                  <a:pt x="982" y="5768"/>
                  <a:pt x="982" y="5155"/>
                </a:cubicBezTo>
                <a:cubicBezTo>
                  <a:pt x="982" y="2823"/>
                  <a:pt x="3068" y="982"/>
                  <a:pt x="4418" y="982"/>
                </a:cubicBezTo>
                <a:cubicBezTo>
                  <a:pt x="4541" y="982"/>
                  <a:pt x="4664" y="1105"/>
                  <a:pt x="4786" y="1105"/>
                </a:cubicBezTo>
                <a:cubicBezTo>
                  <a:pt x="4786" y="1105"/>
                  <a:pt x="4786" y="1105"/>
                  <a:pt x="4786" y="1227"/>
                </a:cubicBezTo>
                <a:cubicBezTo>
                  <a:pt x="4786" y="1227"/>
                  <a:pt x="4909" y="1227"/>
                  <a:pt x="4909" y="1350"/>
                </a:cubicBezTo>
                <a:cubicBezTo>
                  <a:pt x="8100" y="5400"/>
                  <a:pt x="8100" y="5400"/>
                  <a:pt x="8100" y="5400"/>
                </a:cubicBezTo>
                <a:cubicBezTo>
                  <a:pt x="8100" y="5523"/>
                  <a:pt x="8223" y="5523"/>
                  <a:pt x="8223" y="5523"/>
                </a:cubicBezTo>
                <a:cubicBezTo>
                  <a:pt x="8223" y="5645"/>
                  <a:pt x="8345" y="5768"/>
                  <a:pt x="8345" y="5891"/>
                </a:cubicBezTo>
                <a:cubicBezTo>
                  <a:pt x="8345" y="6014"/>
                  <a:pt x="8345" y="6014"/>
                  <a:pt x="8223" y="6136"/>
                </a:cubicBezTo>
                <a:cubicBezTo>
                  <a:pt x="7118" y="7241"/>
                  <a:pt x="7118" y="7241"/>
                  <a:pt x="7118" y="7241"/>
                </a:cubicBezTo>
                <a:cubicBezTo>
                  <a:pt x="7118" y="7241"/>
                  <a:pt x="7118" y="7241"/>
                  <a:pt x="7118" y="7241"/>
                </a:cubicBezTo>
                <a:cubicBezTo>
                  <a:pt x="6750" y="7609"/>
                  <a:pt x="6505" y="8100"/>
                  <a:pt x="6505" y="8714"/>
                </a:cubicBezTo>
                <a:cubicBezTo>
                  <a:pt x="6505" y="9205"/>
                  <a:pt x="6750" y="9695"/>
                  <a:pt x="7118" y="10064"/>
                </a:cubicBezTo>
                <a:cubicBezTo>
                  <a:pt x="7118" y="10064"/>
                  <a:pt x="7118" y="10064"/>
                  <a:pt x="7118" y="10064"/>
                </a:cubicBezTo>
                <a:cubicBezTo>
                  <a:pt x="8345" y="11782"/>
                  <a:pt x="9818" y="13255"/>
                  <a:pt x="11536" y="14482"/>
                </a:cubicBezTo>
                <a:cubicBezTo>
                  <a:pt x="11536" y="14482"/>
                  <a:pt x="11536" y="14482"/>
                  <a:pt x="11536" y="14482"/>
                </a:cubicBezTo>
                <a:cubicBezTo>
                  <a:pt x="11905" y="14850"/>
                  <a:pt x="12395" y="15095"/>
                  <a:pt x="12886" y="15095"/>
                </a:cubicBezTo>
                <a:cubicBezTo>
                  <a:pt x="13377" y="15095"/>
                  <a:pt x="13868" y="14850"/>
                  <a:pt x="14236" y="14482"/>
                </a:cubicBezTo>
                <a:cubicBezTo>
                  <a:pt x="14359" y="14482"/>
                  <a:pt x="14359" y="14482"/>
                  <a:pt x="14359" y="14482"/>
                </a:cubicBezTo>
                <a:cubicBezTo>
                  <a:pt x="15464" y="13377"/>
                  <a:pt x="15464" y="13377"/>
                  <a:pt x="15464" y="13377"/>
                </a:cubicBezTo>
                <a:cubicBezTo>
                  <a:pt x="15586" y="13255"/>
                  <a:pt x="15586" y="13255"/>
                  <a:pt x="15709" y="13255"/>
                </a:cubicBezTo>
                <a:cubicBezTo>
                  <a:pt x="15832" y="13255"/>
                  <a:pt x="15955" y="13377"/>
                  <a:pt x="16077" y="13377"/>
                </a:cubicBezTo>
                <a:cubicBezTo>
                  <a:pt x="16077" y="13377"/>
                  <a:pt x="16077" y="13500"/>
                  <a:pt x="16077" y="13500"/>
                </a:cubicBezTo>
                <a:cubicBezTo>
                  <a:pt x="20250" y="16691"/>
                  <a:pt x="20250" y="16691"/>
                  <a:pt x="20250" y="16691"/>
                </a:cubicBezTo>
                <a:cubicBezTo>
                  <a:pt x="20373" y="16691"/>
                  <a:pt x="20373" y="16691"/>
                  <a:pt x="20373" y="16814"/>
                </a:cubicBezTo>
                <a:cubicBezTo>
                  <a:pt x="20373" y="16814"/>
                  <a:pt x="20495" y="16814"/>
                  <a:pt x="20495" y="16814"/>
                </a:cubicBezTo>
                <a:cubicBezTo>
                  <a:pt x="20495" y="16936"/>
                  <a:pt x="20618" y="16936"/>
                  <a:pt x="20618" y="17182"/>
                </a:cubicBezTo>
                <a:cubicBezTo>
                  <a:pt x="20618" y="17182"/>
                  <a:pt x="20618" y="17182"/>
                  <a:pt x="20618" y="17305"/>
                </a:cubicBezTo>
                <a:cubicBezTo>
                  <a:pt x="20495" y="18655"/>
                  <a:pt x="18777" y="20618"/>
                  <a:pt x="16445" y="20618"/>
                </a:cubicBezTo>
              </a:path>
            </a:pathLst>
          </a:custGeom>
          <a:solidFill>
            <a:srgbClr val="CD172D"/>
          </a:solidFill>
          <a:ln w="12700">
            <a:noFill/>
            <a:miter lim="400000"/>
          </a:ln>
        </p:spPr>
        <p:txBody>
          <a:bodyPr lIns="45719" rIns="45719"/>
          <a:lstStyle/>
          <a:p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51" name="Shape">
            <a:extLst>
              <a:ext uri="{FF2B5EF4-FFF2-40B4-BE49-F238E27FC236}">
                <a16:creationId xmlns:a16="http://schemas.microsoft.com/office/drawing/2014/main" id="{CD9C7A22-43B9-BD86-E57C-8FB879BB406E}"/>
              </a:ext>
            </a:extLst>
          </p:cNvPr>
          <p:cNvSpPr/>
          <p:nvPr userDrawn="1"/>
        </p:nvSpPr>
        <p:spPr>
          <a:xfrm>
            <a:off x="5196963" y="3702717"/>
            <a:ext cx="239914" cy="3309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4894" y="0"/>
                  <a:pt x="0" y="3559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59"/>
                  <a:pt x="16706" y="0"/>
                  <a:pt x="10800" y="0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0"/>
                  <a:pt x="5569" y="982"/>
                  <a:pt x="10800" y="982"/>
                </a:cubicBezTo>
                <a:cubicBezTo>
                  <a:pt x="16031" y="982"/>
                  <a:pt x="20250" y="4050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3927"/>
                </a:moveTo>
                <a:cubicBezTo>
                  <a:pt x="7762" y="3927"/>
                  <a:pt x="5400" y="5645"/>
                  <a:pt x="5400" y="7855"/>
                </a:cubicBezTo>
                <a:cubicBezTo>
                  <a:pt x="5400" y="10064"/>
                  <a:pt x="7762" y="11782"/>
                  <a:pt x="10800" y="11782"/>
                </a:cubicBezTo>
                <a:cubicBezTo>
                  <a:pt x="13837" y="11782"/>
                  <a:pt x="16200" y="10064"/>
                  <a:pt x="16200" y="7855"/>
                </a:cubicBezTo>
                <a:cubicBezTo>
                  <a:pt x="16200" y="5645"/>
                  <a:pt x="13837" y="3927"/>
                  <a:pt x="10800" y="3927"/>
                </a:cubicBezTo>
                <a:moveTo>
                  <a:pt x="10800" y="10800"/>
                </a:moveTo>
                <a:cubicBezTo>
                  <a:pt x="8606" y="10800"/>
                  <a:pt x="6750" y="9450"/>
                  <a:pt x="6750" y="7855"/>
                </a:cubicBezTo>
                <a:cubicBezTo>
                  <a:pt x="6750" y="6259"/>
                  <a:pt x="8606" y="4909"/>
                  <a:pt x="10800" y="4909"/>
                </a:cubicBezTo>
                <a:cubicBezTo>
                  <a:pt x="12994" y="4909"/>
                  <a:pt x="14850" y="6259"/>
                  <a:pt x="14850" y="7855"/>
                </a:cubicBezTo>
                <a:cubicBezTo>
                  <a:pt x="14850" y="9450"/>
                  <a:pt x="12994" y="10800"/>
                  <a:pt x="10800" y="10800"/>
                </a:cubicBezTo>
              </a:path>
            </a:pathLst>
          </a:custGeom>
          <a:solidFill>
            <a:srgbClr val="CD172D"/>
          </a:solidFill>
          <a:ln w="12700">
            <a:noFill/>
            <a:miter lim="400000"/>
          </a:ln>
        </p:spPr>
        <p:txBody>
          <a:bodyPr lIns="45719" rIns="45719"/>
          <a:lstStyle/>
          <a:p>
            <a:endParaRPr dirty="0">
              <a:latin typeface="+mj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1EBDAAD-E34F-BCE5-F183-405F3668FCA5}"/>
              </a:ext>
            </a:extLst>
          </p:cNvPr>
          <p:cNvSpPr txBox="1"/>
          <p:nvPr userDrawn="1"/>
        </p:nvSpPr>
        <p:spPr>
          <a:xfrm>
            <a:off x="9006554" y="3531132"/>
            <a:ext cx="1655351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www.openit.com</a:t>
            </a:r>
          </a:p>
        </p:txBody>
      </p:sp>
      <p:sp>
        <p:nvSpPr>
          <p:cNvPr id="53" name="Shape">
            <a:extLst>
              <a:ext uri="{FF2B5EF4-FFF2-40B4-BE49-F238E27FC236}">
                <a16:creationId xmlns:a16="http://schemas.microsoft.com/office/drawing/2014/main" id="{5AD4E0F7-0FCB-3AB0-4FE3-9FCF8B4AF827}"/>
              </a:ext>
            </a:extLst>
          </p:cNvPr>
          <p:cNvSpPr/>
          <p:nvPr userDrawn="1"/>
        </p:nvSpPr>
        <p:spPr>
          <a:xfrm>
            <a:off x="8624311" y="3613779"/>
            <a:ext cx="255059" cy="2557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4786" y="0"/>
                  <a:pt x="0" y="4786"/>
                  <a:pt x="0" y="10800"/>
                </a:cubicBezTo>
                <a:cubicBezTo>
                  <a:pt x="0" y="16814"/>
                  <a:pt x="4786" y="21600"/>
                  <a:pt x="10800" y="21600"/>
                </a:cubicBezTo>
                <a:cubicBezTo>
                  <a:pt x="16814" y="21600"/>
                  <a:pt x="21600" y="16814"/>
                  <a:pt x="21600" y="10800"/>
                </a:cubicBezTo>
                <a:cubicBezTo>
                  <a:pt x="21600" y="4786"/>
                  <a:pt x="16814" y="0"/>
                  <a:pt x="10800" y="0"/>
                </a:cubicBezTo>
                <a:moveTo>
                  <a:pt x="7855" y="1473"/>
                </a:moveTo>
                <a:cubicBezTo>
                  <a:pt x="7732" y="1595"/>
                  <a:pt x="7486" y="1841"/>
                  <a:pt x="7241" y="2209"/>
                </a:cubicBezTo>
                <a:cubicBezTo>
                  <a:pt x="7241" y="2209"/>
                  <a:pt x="7241" y="2209"/>
                  <a:pt x="7241" y="2209"/>
                </a:cubicBezTo>
                <a:cubicBezTo>
                  <a:pt x="6873" y="2823"/>
                  <a:pt x="6505" y="3436"/>
                  <a:pt x="6136" y="4173"/>
                </a:cubicBezTo>
                <a:cubicBezTo>
                  <a:pt x="6136" y="4173"/>
                  <a:pt x="6136" y="4173"/>
                  <a:pt x="6136" y="4173"/>
                </a:cubicBezTo>
                <a:cubicBezTo>
                  <a:pt x="6136" y="4295"/>
                  <a:pt x="6136" y="4295"/>
                  <a:pt x="6136" y="4418"/>
                </a:cubicBezTo>
                <a:cubicBezTo>
                  <a:pt x="5523" y="4050"/>
                  <a:pt x="4909" y="3682"/>
                  <a:pt x="4418" y="3314"/>
                </a:cubicBezTo>
                <a:cubicBezTo>
                  <a:pt x="5400" y="2455"/>
                  <a:pt x="6627" y="1841"/>
                  <a:pt x="7855" y="1473"/>
                </a:cubicBezTo>
                <a:moveTo>
                  <a:pt x="3805" y="3927"/>
                </a:moveTo>
                <a:cubicBezTo>
                  <a:pt x="4295" y="4418"/>
                  <a:pt x="5032" y="4909"/>
                  <a:pt x="5768" y="5277"/>
                </a:cubicBezTo>
                <a:cubicBezTo>
                  <a:pt x="5768" y="5277"/>
                  <a:pt x="5768" y="5400"/>
                  <a:pt x="5645" y="5400"/>
                </a:cubicBezTo>
                <a:cubicBezTo>
                  <a:pt x="5523" y="6136"/>
                  <a:pt x="5277" y="6995"/>
                  <a:pt x="5155" y="7732"/>
                </a:cubicBezTo>
                <a:cubicBezTo>
                  <a:pt x="5155" y="7855"/>
                  <a:pt x="5155" y="7977"/>
                  <a:pt x="5155" y="8100"/>
                </a:cubicBezTo>
                <a:cubicBezTo>
                  <a:pt x="5032" y="8468"/>
                  <a:pt x="5032" y="8714"/>
                  <a:pt x="5032" y="9082"/>
                </a:cubicBezTo>
                <a:cubicBezTo>
                  <a:pt x="5032" y="9205"/>
                  <a:pt x="4909" y="9327"/>
                  <a:pt x="4909" y="9450"/>
                </a:cubicBezTo>
                <a:cubicBezTo>
                  <a:pt x="4909" y="9695"/>
                  <a:pt x="4909" y="10064"/>
                  <a:pt x="4909" y="10309"/>
                </a:cubicBezTo>
                <a:cubicBezTo>
                  <a:pt x="982" y="10309"/>
                  <a:pt x="982" y="10309"/>
                  <a:pt x="982" y="10309"/>
                </a:cubicBezTo>
                <a:cubicBezTo>
                  <a:pt x="1105" y="7855"/>
                  <a:pt x="2209" y="5645"/>
                  <a:pt x="3805" y="3927"/>
                </a:cubicBezTo>
                <a:moveTo>
                  <a:pt x="982" y="11291"/>
                </a:moveTo>
                <a:cubicBezTo>
                  <a:pt x="4909" y="11291"/>
                  <a:pt x="4909" y="11291"/>
                  <a:pt x="4909" y="11291"/>
                </a:cubicBezTo>
                <a:cubicBezTo>
                  <a:pt x="4909" y="11536"/>
                  <a:pt x="4909" y="11905"/>
                  <a:pt x="4909" y="12150"/>
                </a:cubicBezTo>
                <a:cubicBezTo>
                  <a:pt x="4909" y="12273"/>
                  <a:pt x="5032" y="12395"/>
                  <a:pt x="5032" y="12518"/>
                </a:cubicBezTo>
                <a:cubicBezTo>
                  <a:pt x="5032" y="12886"/>
                  <a:pt x="5032" y="13132"/>
                  <a:pt x="5155" y="13500"/>
                </a:cubicBezTo>
                <a:cubicBezTo>
                  <a:pt x="5155" y="13623"/>
                  <a:pt x="5155" y="13745"/>
                  <a:pt x="5155" y="13868"/>
                </a:cubicBezTo>
                <a:cubicBezTo>
                  <a:pt x="5277" y="14605"/>
                  <a:pt x="5523" y="15464"/>
                  <a:pt x="5645" y="16200"/>
                </a:cubicBezTo>
                <a:cubicBezTo>
                  <a:pt x="5768" y="16200"/>
                  <a:pt x="5768" y="16323"/>
                  <a:pt x="5768" y="16323"/>
                </a:cubicBezTo>
                <a:cubicBezTo>
                  <a:pt x="5032" y="16691"/>
                  <a:pt x="4295" y="17182"/>
                  <a:pt x="3805" y="17673"/>
                </a:cubicBezTo>
                <a:cubicBezTo>
                  <a:pt x="2209" y="15955"/>
                  <a:pt x="1105" y="13745"/>
                  <a:pt x="982" y="11291"/>
                </a:cubicBezTo>
                <a:moveTo>
                  <a:pt x="4418" y="18286"/>
                </a:moveTo>
                <a:cubicBezTo>
                  <a:pt x="4909" y="17918"/>
                  <a:pt x="5523" y="17550"/>
                  <a:pt x="6136" y="17182"/>
                </a:cubicBezTo>
                <a:cubicBezTo>
                  <a:pt x="6136" y="17305"/>
                  <a:pt x="6136" y="17305"/>
                  <a:pt x="6136" y="17427"/>
                </a:cubicBezTo>
                <a:cubicBezTo>
                  <a:pt x="6136" y="17427"/>
                  <a:pt x="6136" y="17427"/>
                  <a:pt x="6136" y="17427"/>
                </a:cubicBezTo>
                <a:cubicBezTo>
                  <a:pt x="6505" y="18164"/>
                  <a:pt x="6873" y="18777"/>
                  <a:pt x="7241" y="19391"/>
                </a:cubicBezTo>
                <a:cubicBezTo>
                  <a:pt x="7241" y="19391"/>
                  <a:pt x="7241" y="19391"/>
                  <a:pt x="7241" y="19391"/>
                </a:cubicBezTo>
                <a:cubicBezTo>
                  <a:pt x="7486" y="19759"/>
                  <a:pt x="7732" y="20005"/>
                  <a:pt x="7855" y="20127"/>
                </a:cubicBezTo>
                <a:cubicBezTo>
                  <a:pt x="6627" y="19759"/>
                  <a:pt x="5400" y="19145"/>
                  <a:pt x="4418" y="18286"/>
                </a:cubicBezTo>
                <a:moveTo>
                  <a:pt x="10309" y="20618"/>
                </a:moveTo>
                <a:cubicBezTo>
                  <a:pt x="8959" y="20250"/>
                  <a:pt x="7732" y="18900"/>
                  <a:pt x="6995" y="16814"/>
                </a:cubicBezTo>
                <a:cubicBezTo>
                  <a:pt x="7977" y="16445"/>
                  <a:pt x="9082" y="16323"/>
                  <a:pt x="10309" y="16200"/>
                </a:cubicBezTo>
                <a:lnTo>
                  <a:pt x="10309" y="20618"/>
                </a:lnTo>
                <a:close/>
                <a:moveTo>
                  <a:pt x="10309" y="15218"/>
                </a:moveTo>
                <a:cubicBezTo>
                  <a:pt x="8959" y="15341"/>
                  <a:pt x="7732" y="15586"/>
                  <a:pt x="6627" y="15955"/>
                </a:cubicBezTo>
                <a:cubicBezTo>
                  <a:pt x="6259" y="14605"/>
                  <a:pt x="5891" y="13009"/>
                  <a:pt x="5891" y="11291"/>
                </a:cubicBezTo>
                <a:cubicBezTo>
                  <a:pt x="10309" y="11291"/>
                  <a:pt x="10309" y="11291"/>
                  <a:pt x="10309" y="11291"/>
                </a:cubicBezTo>
                <a:lnTo>
                  <a:pt x="10309" y="15218"/>
                </a:lnTo>
                <a:close/>
                <a:moveTo>
                  <a:pt x="10309" y="10309"/>
                </a:moveTo>
                <a:cubicBezTo>
                  <a:pt x="5891" y="10309"/>
                  <a:pt x="5891" y="10309"/>
                  <a:pt x="5891" y="10309"/>
                </a:cubicBezTo>
                <a:cubicBezTo>
                  <a:pt x="5891" y="8591"/>
                  <a:pt x="6259" y="6995"/>
                  <a:pt x="6627" y="5645"/>
                </a:cubicBezTo>
                <a:cubicBezTo>
                  <a:pt x="7732" y="6014"/>
                  <a:pt x="8959" y="6259"/>
                  <a:pt x="10309" y="6382"/>
                </a:cubicBezTo>
                <a:lnTo>
                  <a:pt x="10309" y="10309"/>
                </a:lnTo>
                <a:close/>
                <a:moveTo>
                  <a:pt x="10309" y="5400"/>
                </a:moveTo>
                <a:cubicBezTo>
                  <a:pt x="9082" y="5277"/>
                  <a:pt x="7977" y="5155"/>
                  <a:pt x="6995" y="4786"/>
                </a:cubicBezTo>
                <a:cubicBezTo>
                  <a:pt x="7732" y="2700"/>
                  <a:pt x="8959" y="1350"/>
                  <a:pt x="10309" y="982"/>
                </a:cubicBezTo>
                <a:lnTo>
                  <a:pt x="10309" y="5400"/>
                </a:lnTo>
                <a:close/>
                <a:moveTo>
                  <a:pt x="20618" y="10309"/>
                </a:moveTo>
                <a:cubicBezTo>
                  <a:pt x="16691" y="10309"/>
                  <a:pt x="16691" y="10309"/>
                  <a:pt x="16691" y="10309"/>
                </a:cubicBezTo>
                <a:cubicBezTo>
                  <a:pt x="16691" y="10064"/>
                  <a:pt x="16691" y="9695"/>
                  <a:pt x="16691" y="9450"/>
                </a:cubicBezTo>
                <a:cubicBezTo>
                  <a:pt x="16691" y="9327"/>
                  <a:pt x="16568" y="9205"/>
                  <a:pt x="16568" y="9082"/>
                </a:cubicBezTo>
                <a:cubicBezTo>
                  <a:pt x="16568" y="8714"/>
                  <a:pt x="16568" y="8468"/>
                  <a:pt x="16445" y="8100"/>
                </a:cubicBezTo>
                <a:cubicBezTo>
                  <a:pt x="16445" y="7977"/>
                  <a:pt x="16445" y="7855"/>
                  <a:pt x="16445" y="7732"/>
                </a:cubicBezTo>
                <a:cubicBezTo>
                  <a:pt x="16323" y="6995"/>
                  <a:pt x="16077" y="6136"/>
                  <a:pt x="15955" y="5400"/>
                </a:cubicBezTo>
                <a:cubicBezTo>
                  <a:pt x="15832" y="5400"/>
                  <a:pt x="15832" y="5277"/>
                  <a:pt x="15832" y="5277"/>
                </a:cubicBezTo>
                <a:cubicBezTo>
                  <a:pt x="16568" y="4909"/>
                  <a:pt x="17305" y="4418"/>
                  <a:pt x="17795" y="3927"/>
                </a:cubicBezTo>
                <a:cubicBezTo>
                  <a:pt x="19391" y="5645"/>
                  <a:pt x="20495" y="7855"/>
                  <a:pt x="20618" y="10309"/>
                </a:cubicBezTo>
                <a:moveTo>
                  <a:pt x="17182" y="3314"/>
                </a:moveTo>
                <a:cubicBezTo>
                  <a:pt x="16691" y="3682"/>
                  <a:pt x="16077" y="4050"/>
                  <a:pt x="15464" y="4418"/>
                </a:cubicBezTo>
                <a:cubicBezTo>
                  <a:pt x="15464" y="4295"/>
                  <a:pt x="15464" y="4295"/>
                  <a:pt x="15464" y="4173"/>
                </a:cubicBezTo>
                <a:cubicBezTo>
                  <a:pt x="15464" y="4173"/>
                  <a:pt x="15464" y="4173"/>
                  <a:pt x="15464" y="4173"/>
                </a:cubicBezTo>
                <a:cubicBezTo>
                  <a:pt x="15095" y="3436"/>
                  <a:pt x="14727" y="2823"/>
                  <a:pt x="14359" y="2209"/>
                </a:cubicBezTo>
                <a:cubicBezTo>
                  <a:pt x="14359" y="2209"/>
                  <a:pt x="14359" y="2209"/>
                  <a:pt x="14359" y="2209"/>
                </a:cubicBezTo>
                <a:cubicBezTo>
                  <a:pt x="14114" y="1841"/>
                  <a:pt x="13868" y="1595"/>
                  <a:pt x="13745" y="1473"/>
                </a:cubicBezTo>
                <a:cubicBezTo>
                  <a:pt x="14973" y="1841"/>
                  <a:pt x="16200" y="2455"/>
                  <a:pt x="17182" y="3314"/>
                </a:cubicBezTo>
                <a:moveTo>
                  <a:pt x="11291" y="982"/>
                </a:moveTo>
                <a:cubicBezTo>
                  <a:pt x="12641" y="1350"/>
                  <a:pt x="13868" y="2700"/>
                  <a:pt x="14605" y="4786"/>
                </a:cubicBezTo>
                <a:cubicBezTo>
                  <a:pt x="13623" y="5155"/>
                  <a:pt x="12518" y="5277"/>
                  <a:pt x="11291" y="5400"/>
                </a:cubicBezTo>
                <a:lnTo>
                  <a:pt x="11291" y="982"/>
                </a:lnTo>
                <a:close/>
                <a:moveTo>
                  <a:pt x="11291" y="6382"/>
                </a:moveTo>
                <a:cubicBezTo>
                  <a:pt x="12641" y="6259"/>
                  <a:pt x="13868" y="6014"/>
                  <a:pt x="14973" y="5645"/>
                </a:cubicBezTo>
                <a:cubicBezTo>
                  <a:pt x="15341" y="6995"/>
                  <a:pt x="15709" y="8591"/>
                  <a:pt x="15709" y="10309"/>
                </a:cubicBezTo>
                <a:cubicBezTo>
                  <a:pt x="11291" y="10309"/>
                  <a:pt x="11291" y="10309"/>
                  <a:pt x="11291" y="10309"/>
                </a:cubicBezTo>
                <a:lnTo>
                  <a:pt x="11291" y="6382"/>
                </a:lnTo>
                <a:close/>
                <a:moveTo>
                  <a:pt x="11291" y="11291"/>
                </a:moveTo>
                <a:cubicBezTo>
                  <a:pt x="15709" y="11291"/>
                  <a:pt x="15709" y="11291"/>
                  <a:pt x="15709" y="11291"/>
                </a:cubicBezTo>
                <a:cubicBezTo>
                  <a:pt x="15709" y="13009"/>
                  <a:pt x="15341" y="14605"/>
                  <a:pt x="14973" y="15955"/>
                </a:cubicBezTo>
                <a:cubicBezTo>
                  <a:pt x="13868" y="15586"/>
                  <a:pt x="12641" y="15341"/>
                  <a:pt x="11291" y="15218"/>
                </a:cubicBezTo>
                <a:lnTo>
                  <a:pt x="11291" y="11291"/>
                </a:lnTo>
                <a:close/>
                <a:moveTo>
                  <a:pt x="11291" y="20618"/>
                </a:moveTo>
                <a:cubicBezTo>
                  <a:pt x="11291" y="16200"/>
                  <a:pt x="11291" y="16200"/>
                  <a:pt x="11291" y="16200"/>
                </a:cubicBezTo>
                <a:cubicBezTo>
                  <a:pt x="12518" y="16323"/>
                  <a:pt x="13623" y="16445"/>
                  <a:pt x="14605" y="16814"/>
                </a:cubicBezTo>
                <a:cubicBezTo>
                  <a:pt x="13868" y="18900"/>
                  <a:pt x="12641" y="20250"/>
                  <a:pt x="11291" y="20618"/>
                </a:cubicBezTo>
                <a:moveTo>
                  <a:pt x="13745" y="20127"/>
                </a:moveTo>
                <a:cubicBezTo>
                  <a:pt x="13868" y="20005"/>
                  <a:pt x="14114" y="19759"/>
                  <a:pt x="14359" y="19391"/>
                </a:cubicBezTo>
                <a:cubicBezTo>
                  <a:pt x="14359" y="19391"/>
                  <a:pt x="14359" y="19391"/>
                  <a:pt x="14359" y="19391"/>
                </a:cubicBezTo>
                <a:cubicBezTo>
                  <a:pt x="14727" y="18777"/>
                  <a:pt x="15095" y="18164"/>
                  <a:pt x="15464" y="17427"/>
                </a:cubicBezTo>
                <a:cubicBezTo>
                  <a:pt x="15464" y="17427"/>
                  <a:pt x="15464" y="17427"/>
                  <a:pt x="15464" y="17427"/>
                </a:cubicBezTo>
                <a:cubicBezTo>
                  <a:pt x="15464" y="17305"/>
                  <a:pt x="15464" y="17305"/>
                  <a:pt x="15464" y="17182"/>
                </a:cubicBezTo>
                <a:cubicBezTo>
                  <a:pt x="16077" y="17550"/>
                  <a:pt x="16691" y="17918"/>
                  <a:pt x="17182" y="18286"/>
                </a:cubicBezTo>
                <a:cubicBezTo>
                  <a:pt x="16200" y="19145"/>
                  <a:pt x="14973" y="19759"/>
                  <a:pt x="13745" y="20127"/>
                </a:cubicBezTo>
                <a:moveTo>
                  <a:pt x="17795" y="17673"/>
                </a:moveTo>
                <a:cubicBezTo>
                  <a:pt x="17305" y="17182"/>
                  <a:pt x="16568" y="16691"/>
                  <a:pt x="15832" y="16323"/>
                </a:cubicBezTo>
                <a:cubicBezTo>
                  <a:pt x="15832" y="16323"/>
                  <a:pt x="15832" y="16200"/>
                  <a:pt x="15955" y="16200"/>
                </a:cubicBezTo>
                <a:cubicBezTo>
                  <a:pt x="16077" y="15464"/>
                  <a:pt x="16323" y="14605"/>
                  <a:pt x="16445" y="13868"/>
                </a:cubicBezTo>
                <a:cubicBezTo>
                  <a:pt x="16445" y="13745"/>
                  <a:pt x="16445" y="13623"/>
                  <a:pt x="16445" y="13500"/>
                </a:cubicBezTo>
                <a:cubicBezTo>
                  <a:pt x="16568" y="13132"/>
                  <a:pt x="16568" y="12886"/>
                  <a:pt x="16568" y="12518"/>
                </a:cubicBezTo>
                <a:cubicBezTo>
                  <a:pt x="16568" y="12395"/>
                  <a:pt x="16691" y="12273"/>
                  <a:pt x="16691" y="12150"/>
                </a:cubicBezTo>
                <a:cubicBezTo>
                  <a:pt x="16691" y="11905"/>
                  <a:pt x="16691" y="11536"/>
                  <a:pt x="16691" y="11291"/>
                </a:cubicBezTo>
                <a:cubicBezTo>
                  <a:pt x="20618" y="11291"/>
                  <a:pt x="20618" y="11291"/>
                  <a:pt x="20618" y="11291"/>
                </a:cubicBezTo>
                <a:cubicBezTo>
                  <a:pt x="20495" y="13745"/>
                  <a:pt x="19391" y="15955"/>
                  <a:pt x="17795" y="17673"/>
                </a:cubicBezTo>
              </a:path>
            </a:pathLst>
          </a:custGeom>
          <a:solidFill>
            <a:srgbClr val="CD172D"/>
          </a:solidFill>
          <a:ln w="12700">
            <a:noFill/>
            <a:miter lim="400000"/>
          </a:ln>
        </p:spPr>
        <p:txBody>
          <a:bodyPr lIns="45719" rIns="45719"/>
          <a:lstStyle/>
          <a:p>
            <a:endParaRPr sz="1200" dirty="0">
              <a:solidFill>
                <a:srgbClr val="CD172D"/>
              </a:solidFill>
              <a:latin typeface="+mj-lt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3E0BD8-1F06-A963-94E9-74F7B917D9C2}"/>
              </a:ext>
            </a:extLst>
          </p:cNvPr>
          <p:cNvSpPr txBox="1"/>
          <p:nvPr userDrawn="1"/>
        </p:nvSpPr>
        <p:spPr>
          <a:xfrm>
            <a:off x="9006554" y="4009661"/>
            <a:ext cx="1409602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/OpeniTInc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7266E79-E274-B252-B020-9CE2C95F43D6}"/>
              </a:ext>
            </a:extLst>
          </p:cNvPr>
          <p:cNvSpPr txBox="1"/>
          <p:nvPr userDrawn="1"/>
        </p:nvSpPr>
        <p:spPr>
          <a:xfrm>
            <a:off x="9006554" y="4533662"/>
            <a:ext cx="1409602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/OpeniTInc</a:t>
            </a:r>
          </a:p>
        </p:txBody>
      </p:sp>
      <p:pic>
        <p:nvPicPr>
          <p:cNvPr id="61" name="Picture 60" descr="A red and black logo&#10;&#10;Description automatically generated">
            <a:extLst>
              <a:ext uri="{FF2B5EF4-FFF2-40B4-BE49-F238E27FC236}">
                <a16:creationId xmlns:a16="http://schemas.microsoft.com/office/drawing/2014/main" id="{E14618F5-A28E-E0FB-2966-A51E3313DC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38" y="4156637"/>
            <a:ext cx="3008044" cy="1361536"/>
          </a:xfrm>
          <a:prstGeom prst="rect">
            <a:avLst/>
          </a:prstGeom>
        </p:spPr>
      </p:pic>
      <p:sp>
        <p:nvSpPr>
          <p:cNvPr id="62" name="Graphic 25">
            <a:extLst>
              <a:ext uri="{FF2B5EF4-FFF2-40B4-BE49-F238E27FC236}">
                <a16:creationId xmlns:a16="http://schemas.microsoft.com/office/drawing/2014/main" id="{DD13E9CF-64A1-46FB-7BE9-BE4D0D39AFB8}"/>
              </a:ext>
            </a:extLst>
          </p:cNvPr>
          <p:cNvSpPr/>
          <p:nvPr userDrawn="1"/>
        </p:nvSpPr>
        <p:spPr>
          <a:xfrm>
            <a:off x="8634610" y="4071518"/>
            <a:ext cx="219456" cy="219456"/>
          </a:xfrm>
          <a:custGeom>
            <a:avLst/>
            <a:gdLst>
              <a:gd name="connsiteX0" fmla="*/ 203210 w 219456"/>
              <a:gd name="connsiteY0" fmla="*/ 0 h 219456"/>
              <a:gd name="connsiteX1" fmla="*/ 16185 w 219456"/>
              <a:gd name="connsiteY1" fmla="*/ 0 h 219456"/>
              <a:gd name="connsiteX2" fmla="*/ 0 w 219456"/>
              <a:gd name="connsiteY2" fmla="*/ 15819 h 219456"/>
              <a:gd name="connsiteX3" fmla="*/ 0 w 219456"/>
              <a:gd name="connsiteY3" fmla="*/ 203622 h 219456"/>
              <a:gd name="connsiteX4" fmla="*/ 16185 w 219456"/>
              <a:gd name="connsiteY4" fmla="*/ 219456 h 219456"/>
              <a:gd name="connsiteX5" fmla="*/ 203210 w 219456"/>
              <a:gd name="connsiteY5" fmla="*/ 219456 h 219456"/>
              <a:gd name="connsiteX6" fmla="*/ 219456 w 219456"/>
              <a:gd name="connsiteY6" fmla="*/ 203622 h 219456"/>
              <a:gd name="connsiteX7" fmla="*/ 219456 w 219456"/>
              <a:gd name="connsiteY7" fmla="*/ 15819 h 219456"/>
              <a:gd name="connsiteX8" fmla="*/ 203210 w 219456"/>
              <a:gd name="connsiteY8" fmla="*/ 0 h 219456"/>
              <a:gd name="connsiteX9" fmla="*/ 65090 w 219456"/>
              <a:gd name="connsiteY9" fmla="*/ 187010 h 219456"/>
              <a:gd name="connsiteX10" fmla="*/ 32537 w 219456"/>
              <a:gd name="connsiteY10" fmla="*/ 187010 h 219456"/>
              <a:gd name="connsiteX11" fmla="*/ 32537 w 219456"/>
              <a:gd name="connsiteY11" fmla="*/ 82281 h 219456"/>
              <a:gd name="connsiteX12" fmla="*/ 65090 w 219456"/>
              <a:gd name="connsiteY12" fmla="*/ 82281 h 219456"/>
              <a:gd name="connsiteX13" fmla="*/ 65090 w 219456"/>
              <a:gd name="connsiteY13" fmla="*/ 187010 h 219456"/>
              <a:gd name="connsiteX14" fmla="*/ 48814 w 219456"/>
              <a:gd name="connsiteY14" fmla="*/ 67955 h 219456"/>
              <a:gd name="connsiteX15" fmla="*/ 29931 w 219456"/>
              <a:gd name="connsiteY15" fmla="*/ 49088 h 219456"/>
              <a:gd name="connsiteX16" fmla="*/ 48814 w 219456"/>
              <a:gd name="connsiteY16" fmla="*/ 30221 h 219456"/>
              <a:gd name="connsiteX17" fmla="*/ 67681 w 219456"/>
              <a:gd name="connsiteY17" fmla="*/ 49088 h 219456"/>
              <a:gd name="connsiteX18" fmla="*/ 48814 w 219456"/>
              <a:gd name="connsiteY18" fmla="*/ 67955 h 219456"/>
              <a:gd name="connsiteX19" fmla="*/ 186995 w 219456"/>
              <a:gd name="connsiteY19" fmla="*/ 187010 h 219456"/>
              <a:gd name="connsiteX20" fmla="*/ 154473 w 219456"/>
              <a:gd name="connsiteY20" fmla="*/ 187010 h 219456"/>
              <a:gd name="connsiteX21" fmla="*/ 154473 w 219456"/>
              <a:gd name="connsiteY21" fmla="*/ 136078 h 219456"/>
              <a:gd name="connsiteX22" fmla="*/ 137556 w 219456"/>
              <a:gd name="connsiteY22" fmla="*/ 108311 h 219456"/>
              <a:gd name="connsiteX23" fmla="*/ 118019 w 219456"/>
              <a:gd name="connsiteY23" fmla="*/ 135194 h 219456"/>
              <a:gd name="connsiteX24" fmla="*/ 118019 w 219456"/>
              <a:gd name="connsiteY24" fmla="*/ 187010 h 219456"/>
              <a:gd name="connsiteX25" fmla="*/ 85496 w 219456"/>
              <a:gd name="connsiteY25" fmla="*/ 187010 h 219456"/>
              <a:gd name="connsiteX26" fmla="*/ 85496 w 219456"/>
              <a:gd name="connsiteY26" fmla="*/ 82281 h 219456"/>
              <a:gd name="connsiteX27" fmla="*/ 116723 w 219456"/>
              <a:gd name="connsiteY27" fmla="*/ 82281 h 219456"/>
              <a:gd name="connsiteX28" fmla="*/ 116723 w 219456"/>
              <a:gd name="connsiteY28" fmla="*/ 96591 h 219456"/>
              <a:gd name="connsiteX29" fmla="*/ 117150 w 219456"/>
              <a:gd name="connsiteY29" fmla="*/ 96591 h 219456"/>
              <a:gd name="connsiteX30" fmla="*/ 147950 w 219456"/>
              <a:gd name="connsiteY30" fmla="*/ 79675 h 219456"/>
              <a:gd name="connsiteX31" fmla="*/ 186995 w 219456"/>
              <a:gd name="connsiteY31" fmla="*/ 129555 h 219456"/>
              <a:gd name="connsiteX32" fmla="*/ 186995 w 219456"/>
              <a:gd name="connsiteY32" fmla="*/ 187010 h 219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19456" h="219456">
                <a:moveTo>
                  <a:pt x="203210" y="0"/>
                </a:moveTo>
                <a:lnTo>
                  <a:pt x="16185" y="0"/>
                </a:lnTo>
                <a:cubicBezTo>
                  <a:pt x="7254" y="0"/>
                  <a:pt x="0" y="7087"/>
                  <a:pt x="0" y="15819"/>
                </a:cubicBezTo>
                <a:lnTo>
                  <a:pt x="0" y="203622"/>
                </a:lnTo>
                <a:cubicBezTo>
                  <a:pt x="0" y="212369"/>
                  <a:pt x="7254" y="219456"/>
                  <a:pt x="16185" y="219456"/>
                </a:cubicBezTo>
                <a:lnTo>
                  <a:pt x="203210" y="219456"/>
                </a:lnTo>
                <a:cubicBezTo>
                  <a:pt x="212156" y="219456"/>
                  <a:pt x="219456" y="212369"/>
                  <a:pt x="219456" y="203622"/>
                </a:cubicBezTo>
                <a:lnTo>
                  <a:pt x="219456" y="15819"/>
                </a:lnTo>
                <a:cubicBezTo>
                  <a:pt x="219456" y="7087"/>
                  <a:pt x="212156" y="0"/>
                  <a:pt x="203210" y="0"/>
                </a:cubicBezTo>
                <a:close/>
                <a:moveTo>
                  <a:pt x="65090" y="187010"/>
                </a:moveTo>
                <a:lnTo>
                  <a:pt x="32537" y="187010"/>
                </a:lnTo>
                <a:lnTo>
                  <a:pt x="32537" y="82281"/>
                </a:lnTo>
                <a:lnTo>
                  <a:pt x="65090" y="82281"/>
                </a:lnTo>
                <a:lnTo>
                  <a:pt x="65090" y="187010"/>
                </a:lnTo>
                <a:close/>
                <a:moveTo>
                  <a:pt x="48814" y="67955"/>
                </a:moveTo>
                <a:cubicBezTo>
                  <a:pt x="38390" y="67955"/>
                  <a:pt x="29931" y="59497"/>
                  <a:pt x="29931" y="49088"/>
                </a:cubicBezTo>
                <a:cubicBezTo>
                  <a:pt x="29931" y="38679"/>
                  <a:pt x="38390" y="30221"/>
                  <a:pt x="48814" y="30221"/>
                </a:cubicBezTo>
                <a:cubicBezTo>
                  <a:pt x="59238" y="30221"/>
                  <a:pt x="67681" y="38679"/>
                  <a:pt x="67681" y="49088"/>
                </a:cubicBezTo>
                <a:cubicBezTo>
                  <a:pt x="67681" y="59497"/>
                  <a:pt x="59223" y="67955"/>
                  <a:pt x="48814" y="67955"/>
                </a:cubicBezTo>
                <a:close/>
                <a:moveTo>
                  <a:pt x="186995" y="187010"/>
                </a:moveTo>
                <a:lnTo>
                  <a:pt x="154473" y="187010"/>
                </a:lnTo>
                <a:lnTo>
                  <a:pt x="154473" y="136078"/>
                </a:lnTo>
                <a:cubicBezTo>
                  <a:pt x="154473" y="123932"/>
                  <a:pt x="154244" y="108311"/>
                  <a:pt x="137556" y="108311"/>
                </a:cubicBezTo>
                <a:cubicBezTo>
                  <a:pt x="120868" y="108311"/>
                  <a:pt x="118019" y="121539"/>
                  <a:pt x="118019" y="135194"/>
                </a:cubicBezTo>
                <a:lnTo>
                  <a:pt x="118019" y="187010"/>
                </a:lnTo>
                <a:lnTo>
                  <a:pt x="85496" y="187010"/>
                </a:lnTo>
                <a:lnTo>
                  <a:pt x="85496" y="82281"/>
                </a:lnTo>
                <a:lnTo>
                  <a:pt x="116723" y="82281"/>
                </a:lnTo>
                <a:lnTo>
                  <a:pt x="116723" y="96591"/>
                </a:lnTo>
                <a:lnTo>
                  <a:pt x="117150" y="96591"/>
                </a:lnTo>
                <a:cubicBezTo>
                  <a:pt x="121509" y="88346"/>
                  <a:pt x="132116" y="79675"/>
                  <a:pt x="147950" y="79675"/>
                </a:cubicBezTo>
                <a:cubicBezTo>
                  <a:pt x="180914" y="79675"/>
                  <a:pt x="186995" y="101361"/>
                  <a:pt x="186995" y="129555"/>
                </a:cubicBezTo>
                <a:lnTo>
                  <a:pt x="186995" y="187010"/>
                </a:lnTo>
                <a:close/>
              </a:path>
            </a:pathLst>
          </a:custGeom>
          <a:solidFill>
            <a:srgbClr val="CD172D"/>
          </a:solidFill>
          <a:ln w="152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3" name="Freeform 303">
            <a:extLst>
              <a:ext uri="{FF2B5EF4-FFF2-40B4-BE49-F238E27FC236}">
                <a16:creationId xmlns:a16="http://schemas.microsoft.com/office/drawing/2014/main" id="{2359E98E-8F51-F71A-D91D-F147004F5E09}"/>
              </a:ext>
            </a:extLst>
          </p:cNvPr>
          <p:cNvSpPr>
            <a:spLocks/>
          </p:cNvSpPr>
          <p:nvPr userDrawn="1"/>
        </p:nvSpPr>
        <p:spPr bwMode="auto">
          <a:xfrm>
            <a:off x="8680961" y="4582676"/>
            <a:ext cx="127722" cy="245142"/>
          </a:xfrm>
          <a:custGeom>
            <a:avLst/>
            <a:gdLst>
              <a:gd name="T0" fmla="*/ 325 w 325"/>
              <a:gd name="T1" fmla="*/ 104 h 626"/>
              <a:gd name="T2" fmla="*/ 266 w 325"/>
              <a:gd name="T3" fmla="*/ 104 h 626"/>
              <a:gd name="T4" fmla="*/ 211 w 325"/>
              <a:gd name="T5" fmla="*/ 158 h 626"/>
              <a:gd name="T6" fmla="*/ 211 w 325"/>
              <a:gd name="T7" fmla="*/ 229 h 626"/>
              <a:gd name="T8" fmla="*/ 321 w 325"/>
              <a:gd name="T9" fmla="*/ 229 h 626"/>
              <a:gd name="T10" fmla="*/ 321 w 325"/>
              <a:gd name="T11" fmla="*/ 340 h 626"/>
              <a:gd name="T12" fmla="*/ 211 w 325"/>
              <a:gd name="T13" fmla="*/ 340 h 626"/>
              <a:gd name="T14" fmla="*/ 211 w 325"/>
              <a:gd name="T15" fmla="*/ 626 h 626"/>
              <a:gd name="T16" fmla="*/ 96 w 325"/>
              <a:gd name="T17" fmla="*/ 626 h 626"/>
              <a:gd name="T18" fmla="*/ 96 w 325"/>
              <a:gd name="T19" fmla="*/ 340 h 626"/>
              <a:gd name="T20" fmla="*/ 0 w 325"/>
              <a:gd name="T21" fmla="*/ 340 h 626"/>
              <a:gd name="T22" fmla="*/ 0 w 325"/>
              <a:gd name="T23" fmla="*/ 229 h 626"/>
              <a:gd name="T24" fmla="*/ 96 w 325"/>
              <a:gd name="T25" fmla="*/ 229 h 626"/>
              <a:gd name="T26" fmla="*/ 96 w 325"/>
              <a:gd name="T27" fmla="*/ 147 h 626"/>
              <a:gd name="T28" fmla="*/ 239 w 325"/>
              <a:gd name="T29" fmla="*/ 0 h 626"/>
              <a:gd name="T30" fmla="*/ 325 w 325"/>
              <a:gd name="T31" fmla="*/ 0 h 626"/>
              <a:gd name="T32" fmla="*/ 325 w 325"/>
              <a:gd name="T33" fmla="*/ 104 h 6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5" h="626">
                <a:moveTo>
                  <a:pt x="325" y="104"/>
                </a:moveTo>
                <a:lnTo>
                  <a:pt x="266" y="104"/>
                </a:lnTo>
                <a:cubicBezTo>
                  <a:pt x="220" y="104"/>
                  <a:pt x="211" y="126"/>
                  <a:pt x="211" y="158"/>
                </a:cubicBezTo>
                <a:lnTo>
                  <a:pt x="211" y="229"/>
                </a:lnTo>
                <a:lnTo>
                  <a:pt x="321" y="229"/>
                </a:lnTo>
                <a:lnTo>
                  <a:pt x="321" y="340"/>
                </a:lnTo>
                <a:lnTo>
                  <a:pt x="211" y="340"/>
                </a:lnTo>
                <a:lnTo>
                  <a:pt x="211" y="626"/>
                </a:lnTo>
                <a:lnTo>
                  <a:pt x="96" y="626"/>
                </a:lnTo>
                <a:lnTo>
                  <a:pt x="96" y="340"/>
                </a:lnTo>
                <a:lnTo>
                  <a:pt x="0" y="340"/>
                </a:lnTo>
                <a:lnTo>
                  <a:pt x="0" y="229"/>
                </a:lnTo>
                <a:lnTo>
                  <a:pt x="96" y="229"/>
                </a:lnTo>
                <a:lnTo>
                  <a:pt x="96" y="147"/>
                </a:lnTo>
                <a:cubicBezTo>
                  <a:pt x="96" y="52"/>
                  <a:pt x="154" y="0"/>
                  <a:pt x="239" y="0"/>
                </a:cubicBezTo>
                <a:lnTo>
                  <a:pt x="325" y="0"/>
                </a:lnTo>
                <a:lnTo>
                  <a:pt x="325" y="104"/>
                </a:lnTo>
                <a:close/>
              </a:path>
            </a:pathLst>
          </a:custGeom>
          <a:solidFill>
            <a:srgbClr val="CD172D"/>
          </a:solidFill>
          <a:ln>
            <a:noFill/>
          </a:ln>
        </p:spPr>
        <p:txBody>
          <a:bodyPr vert="horz" wrap="square" lIns="146078" tIns="73039" rIns="146078" bIns="73039" numCol="1" anchor="t" anchorCtr="0" compatLnSpc="1">
            <a:prstTxWarp prst="textNoShape">
              <a:avLst/>
            </a:prstTxWarp>
          </a:bodyPr>
          <a:lstStyle/>
          <a:p>
            <a:endParaRPr lang="en-US" sz="2876" dirty="0">
              <a:solidFill>
                <a:srgbClr val="CD172D"/>
              </a:solidFill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106096-6AB4-2B35-4B38-5FF7EA787FD7}"/>
              </a:ext>
            </a:extLst>
          </p:cNvPr>
          <p:cNvSpPr/>
          <p:nvPr userDrawn="1"/>
        </p:nvSpPr>
        <p:spPr>
          <a:xfrm>
            <a:off x="10661905" y="6163235"/>
            <a:ext cx="1413554" cy="5602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546F5F-4792-9ECE-C7AC-8E75EC25FA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06D56B-5F1E-7FDC-98AA-E99244B5D55C}"/>
              </a:ext>
            </a:extLst>
          </p:cNvPr>
          <p:cNvSpPr txBox="1"/>
          <p:nvPr userDrawn="1"/>
        </p:nvSpPr>
        <p:spPr>
          <a:xfrm>
            <a:off x="708211" y="6532066"/>
            <a:ext cx="5039809" cy="215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© 2026 Open iT, Inc. All rights reserved. Company Confidential. </a:t>
            </a:r>
            <a:r>
              <a:rPr lang="en-PH" dirty="0"/>
              <a:t>ISO/IEC 27001:2022 Certified | BARR Certifications.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04A74A-7E39-4472-C72F-31CA890A964E}"/>
              </a:ext>
            </a:extLst>
          </p:cNvPr>
          <p:cNvSpPr txBox="1"/>
          <p:nvPr userDrawn="1"/>
        </p:nvSpPr>
        <p:spPr>
          <a:xfrm>
            <a:off x="8996255" y="5045602"/>
            <a:ext cx="1409602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@OpeniTInc</a:t>
            </a:r>
          </a:p>
        </p:txBody>
      </p:sp>
      <p:sp>
        <p:nvSpPr>
          <p:cNvPr id="6" name="Graphic 5">
            <a:extLst>
              <a:ext uri="{FF2B5EF4-FFF2-40B4-BE49-F238E27FC236}">
                <a16:creationId xmlns:a16="http://schemas.microsoft.com/office/drawing/2014/main" id="{4D0A1DF4-1217-2405-AF99-7EEBB16DE1CE}"/>
              </a:ext>
            </a:extLst>
          </p:cNvPr>
          <p:cNvSpPr/>
          <p:nvPr userDrawn="1"/>
        </p:nvSpPr>
        <p:spPr>
          <a:xfrm>
            <a:off x="8620666" y="5148939"/>
            <a:ext cx="240317" cy="180464"/>
          </a:xfrm>
          <a:custGeom>
            <a:avLst/>
            <a:gdLst>
              <a:gd name="connsiteX0" fmla="*/ 354902 w 356712"/>
              <a:gd name="connsiteY0" fmla="*/ 72683 h 267870"/>
              <a:gd name="connsiteX1" fmla="*/ 347282 w 356712"/>
              <a:gd name="connsiteY1" fmla="*/ 33726 h 267870"/>
              <a:gd name="connsiteX2" fmla="*/ 307754 w 356712"/>
              <a:gd name="connsiteY2" fmla="*/ 4294 h 267870"/>
              <a:gd name="connsiteX3" fmla="*/ 256223 w 356712"/>
              <a:gd name="connsiteY3" fmla="*/ 1341 h 267870"/>
              <a:gd name="connsiteX4" fmla="*/ 151163 w 356712"/>
              <a:gd name="connsiteY4" fmla="*/ 8 h 267870"/>
              <a:gd name="connsiteX5" fmla="*/ 74867 w 356712"/>
              <a:gd name="connsiteY5" fmla="*/ 2389 h 267870"/>
              <a:gd name="connsiteX6" fmla="*/ 45054 w 356712"/>
              <a:gd name="connsiteY6" fmla="*/ 4770 h 267870"/>
              <a:gd name="connsiteX7" fmla="*/ 10574 w 356712"/>
              <a:gd name="connsiteY7" fmla="*/ 31916 h 267870"/>
              <a:gd name="connsiteX8" fmla="*/ 2192 w 356712"/>
              <a:gd name="connsiteY8" fmla="*/ 70302 h 267870"/>
              <a:gd name="connsiteX9" fmla="*/ 382 w 356712"/>
              <a:gd name="connsiteY9" fmla="*/ 162409 h 267870"/>
              <a:gd name="connsiteX10" fmla="*/ 5049 w 356712"/>
              <a:gd name="connsiteY10" fmla="*/ 217749 h 267870"/>
              <a:gd name="connsiteX11" fmla="*/ 9335 w 356712"/>
              <a:gd name="connsiteY11" fmla="*/ 232227 h 267870"/>
              <a:gd name="connsiteX12" fmla="*/ 44864 w 356712"/>
              <a:gd name="connsiteY12" fmla="*/ 262231 h 267870"/>
              <a:gd name="connsiteX13" fmla="*/ 77725 w 356712"/>
              <a:gd name="connsiteY13" fmla="*/ 265374 h 267870"/>
              <a:gd name="connsiteX14" fmla="*/ 207265 w 356712"/>
              <a:gd name="connsiteY14" fmla="*/ 267755 h 267870"/>
              <a:gd name="connsiteX15" fmla="*/ 291466 w 356712"/>
              <a:gd name="connsiteY15" fmla="*/ 264803 h 267870"/>
              <a:gd name="connsiteX16" fmla="*/ 314612 w 356712"/>
              <a:gd name="connsiteY16" fmla="*/ 262231 h 267870"/>
              <a:gd name="connsiteX17" fmla="*/ 346235 w 356712"/>
              <a:gd name="connsiteY17" fmla="*/ 235847 h 267870"/>
              <a:gd name="connsiteX18" fmla="*/ 354902 w 356712"/>
              <a:gd name="connsiteY18" fmla="*/ 195080 h 267870"/>
              <a:gd name="connsiteX19" fmla="*/ 356712 w 356712"/>
              <a:gd name="connsiteY19" fmla="*/ 168791 h 267870"/>
              <a:gd name="connsiteX20" fmla="*/ 356712 w 356712"/>
              <a:gd name="connsiteY20" fmla="*/ 98972 h 267870"/>
              <a:gd name="connsiteX21" fmla="*/ 354902 w 356712"/>
              <a:gd name="connsiteY21" fmla="*/ 72683 h 267870"/>
              <a:gd name="connsiteX22" fmla="*/ 241460 w 356712"/>
              <a:gd name="connsiteY22" fmla="*/ 135834 h 267870"/>
              <a:gd name="connsiteX23" fmla="*/ 138018 w 356712"/>
              <a:gd name="connsiteY23" fmla="*/ 197937 h 267870"/>
              <a:gd name="connsiteX24" fmla="*/ 135065 w 356712"/>
              <a:gd name="connsiteY24" fmla="*/ 198985 h 267870"/>
              <a:gd name="connsiteX25" fmla="*/ 134303 w 356712"/>
              <a:gd name="connsiteY25" fmla="*/ 195651 h 267870"/>
              <a:gd name="connsiteX26" fmla="*/ 134303 w 356712"/>
              <a:gd name="connsiteY26" fmla="*/ 71921 h 267870"/>
              <a:gd name="connsiteX27" fmla="*/ 138018 w 356712"/>
              <a:gd name="connsiteY27" fmla="*/ 69826 h 267870"/>
              <a:gd name="connsiteX28" fmla="*/ 241460 w 356712"/>
              <a:gd name="connsiteY28" fmla="*/ 131929 h 267870"/>
              <a:gd name="connsiteX29" fmla="*/ 241460 w 356712"/>
              <a:gd name="connsiteY29" fmla="*/ 135834 h 267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356712" h="267870">
                <a:moveTo>
                  <a:pt x="354902" y="72683"/>
                </a:moveTo>
                <a:cubicBezTo>
                  <a:pt x="354140" y="59539"/>
                  <a:pt x="352235" y="46109"/>
                  <a:pt x="347282" y="33726"/>
                </a:cubicBezTo>
                <a:cubicBezTo>
                  <a:pt x="340139" y="15819"/>
                  <a:pt x="326708" y="6389"/>
                  <a:pt x="307754" y="4294"/>
                </a:cubicBezTo>
                <a:cubicBezTo>
                  <a:pt x="290704" y="2389"/>
                  <a:pt x="273273" y="2103"/>
                  <a:pt x="256223" y="1341"/>
                </a:cubicBezTo>
                <a:cubicBezTo>
                  <a:pt x="221171" y="-183"/>
                  <a:pt x="186215" y="8"/>
                  <a:pt x="151163" y="8"/>
                </a:cubicBezTo>
                <a:cubicBezTo>
                  <a:pt x="125636" y="293"/>
                  <a:pt x="100394" y="1055"/>
                  <a:pt x="74867" y="2389"/>
                </a:cubicBezTo>
                <a:cubicBezTo>
                  <a:pt x="65057" y="2960"/>
                  <a:pt x="55055" y="3151"/>
                  <a:pt x="45054" y="4770"/>
                </a:cubicBezTo>
                <a:cubicBezTo>
                  <a:pt x="29052" y="7913"/>
                  <a:pt x="17146" y="16581"/>
                  <a:pt x="10574" y="31916"/>
                </a:cubicBezTo>
                <a:cubicBezTo>
                  <a:pt x="5335" y="44299"/>
                  <a:pt x="3525" y="57158"/>
                  <a:pt x="2192" y="70302"/>
                </a:cubicBezTo>
                <a:cubicBezTo>
                  <a:pt x="-475" y="100877"/>
                  <a:pt x="-190" y="131643"/>
                  <a:pt x="382" y="162409"/>
                </a:cubicBezTo>
                <a:cubicBezTo>
                  <a:pt x="572" y="180887"/>
                  <a:pt x="1620" y="199271"/>
                  <a:pt x="5049" y="217749"/>
                </a:cubicBezTo>
                <a:cubicBezTo>
                  <a:pt x="6097" y="222702"/>
                  <a:pt x="7430" y="227465"/>
                  <a:pt x="9335" y="232227"/>
                </a:cubicBezTo>
                <a:cubicBezTo>
                  <a:pt x="15050" y="249277"/>
                  <a:pt x="27433" y="258802"/>
                  <a:pt x="44864" y="262231"/>
                </a:cubicBezTo>
                <a:cubicBezTo>
                  <a:pt x="55627" y="264326"/>
                  <a:pt x="66676" y="265088"/>
                  <a:pt x="77725" y="265374"/>
                </a:cubicBezTo>
                <a:cubicBezTo>
                  <a:pt x="120873" y="267184"/>
                  <a:pt x="164021" y="268232"/>
                  <a:pt x="207265" y="267755"/>
                </a:cubicBezTo>
                <a:cubicBezTo>
                  <a:pt x="235364" y="267184"/>
                  <a:pt x="263558" y="266422"/>
                  <a:pt x="291466" y="264803"/>
                </a:cubicBezTo>
                <a:cubicBezTo>
                  <a:pt x="299086" y="264326"/>
                  <a:pt x="306992" y="264041"/>
                  <a:pt x="314612" y="262231"/>
                </a:cubicBezTo>
                <a:cubicBezTo>
                  <a:pt x="329375" y="258516"/>
                  <a:pt x="340139" y="250134"/>
                  <a:pt x="346235" y="235847"/>
                </a:cubicBezTo>
                <a:cubicBezTo>
                  <a:pt x="351950" y="222988"/>
                  <a:pt x="353855" y="208986"/>
                  <a:pt x="354902" y="195080"/>
                </a:cubicBezTo>
                <a:cubicBezTo>
                  <a:pt x="355379" y="186126"/>
                  <a:pt x="356236" y="177458"/>
                  <a:pt x="356712" y="168791"/>
                </a:cubicBezTo>
                <a:lnTo>
                  <a:pt x="356712" y="98972"/>
                </a:lnTo>
                <a:cubicBezTo>
                  <a:pt x="356236" y="90305"/>
                  <a:pt x="355379" y="81637"/>
                  <a:pt x="354902" y="72683"/>
                </a:cubicBezTo>
                <a:close/>
                <a:moveTo>
                  <a:pt x="241460" y="135834"/>
                </a:moveTo>
                <a:cubicBezTo>
                  <a:pt x="206979" y="156694"/>
                  <a:pt x="172499" y="177173"/>
                  <a:pt x="138018" y="197937"/>
                </a:cubicBezTo>
                <a:cubicBezTo>
                  <a:pt x="137256" y="198509"/>
                  <a:pt x="136113" y="199556"/>
                  <a:pt x="135065" y="198985"/>
                </a:cubicBezTo>
                <a:cubicBezTo>
                  <a:pt x="133827" y="198223"/>
                  <a:pt x="134303" y="196699"/>
                  <a:pt x="134303" y="195651"/>
                </a:cubicBezTo>
                <a:lnTo>
                  <a:pt x="134303" y="71921"/>
                </a:lnTo>
                <a:cubicBezTo>
                  <a:pt x="134303" y="67921"/>
                  <a:pt x="134589" y="67635"/>
                  <a:pt x="138018" y="69826"/>
                </a:cubicBezTo>
                <a:cubicBezTo>
                  <a:pt x="172499" y="90590"/>
                  <a:pt x="206979" y="111069"/>
                  <a:pt x="241460" y="131929"/>
                </a:cubicBezTo>
                <a:cubicBezTo>
                  <a:pt x="244603" y="133739"/>
                  <a:pt x="244603" y="134024"/>
                  <a:pt x="241460" y="135834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79EB65-7C16-15CF-1264-214935278286}"/>
              </a:ext>
            </a:extLst>
          </p:cNvPr>
          <p:cNvSpPr txBox="1"/>
          <p:nvPr userDrawn="1"/>
        </p:nvSpPr>
        <p:spPr>
          <a:xfrm>
            <a:off x="5656374" y="3391654"/>
            <a:ext cx="2293384" cy="894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Two Park Ten Place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16300 Katy Freeway Suite 100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Houston, TX 77094</a:t>
            </a:r>
          </a:p>
        </p:txBody>
      </p:sp>
    </p:spTree>
    <p:extLst>
      <p:ext uri="{BB962C8B-B14F-4D97-AF65-F5344CB8AC3E}">
        <p14:creationId xmlns:p14="http://schemas.microsoft.com/office/powerpoint/2010/main" val="735034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ac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Placeholder 22" descr="3D design of a city in white">
            <a:extLst>
              <a:ext uri="{FF2B5EF4-FFF2-40B4-BE49-F238E27FC236}">
                <a16:creationId xmlns:a16="http://schemas.microsoft.com/office/drawing/2014/main" id="{5D2548E1-4EBD-91F5-EDE7-9BBB3D6413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"/>
            <a:ext cx="12192000" cy="3539752"/>
          </a:xfrm>
          <a:prstGeom prst="rect">
            <a:avLst/>
          </a:prstGeom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C846D13-6AE0-C2A6-E408-D27EF9E6A9E1}"/>
              </a:ext>
            </a:extLst>
          </p:cNvPr>
          <p:cNvSpPr/>
          <p:nvPr userDrawn="1"/>
        </p:nvSpPr>
        <p:spPr>
          <a:xfrm>
            <a:off x="4401315" y="1697300"/>
            <a:ext cx="6961609" cy="428286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latin typeface="+mj-lt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6A86035-DCEC-7C25-3B75-43E52E785C93}"/>
              </a:ext>
            </a:extLst>
          </p:cNvPr>
          <p:cNvSpPr txBox="1"/>
          <p:nvPr userDrawn="1"/>
        </p:nvSpPr>
        <p:spPr>
          <a:xfrm>
            <a:off x="5656374" y="4429351"/>
            <a:ext cx="2290268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>
                <a:solidFill>
                  <a:srgbClr val="303030"/>
                </a:solidFill>
                <a:effectLst/>
                <a:latin typeface="Source Sans Pro" panose="020B0503030403020204" pitchFamily="34" charset="0"/>
              </a:rPr>
              <a:t>+47 22 20 40 50</a:t>
            </a:r>
            <a:endParaRPr lang="en-US" sz="1200" dirty="0">
              <a:solidFill>
                <a:schemeClr val="tx1"/>
              </a:solidFill>
              <a:latin typeface="+mj-lt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49" name="Shape">
            <a:extLst>
              <a:ext uri="{FF2B5EF4-FFF2-40B4-BE49-F238E27FC236}">
                <a16:creationId xmlns:a16="http://schemas.microsoft.com/office/drawing/2014/main" id="{C86CAF21-9244-5E84-F1EF-DACA98ED01A3}"/>
              </a:ext>
            </a:extLst>
          </p:cNvPr>
          <p:cNvSpPr/>
          <p:nvPr userDrawn="1"/>
        </p:nvSpPr>
        <p:spPr>
          <a:xfrm>
            <a:off x="5196963" y="5157943"/>
            <a:ext cx="257999" cy="1874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cubicBezTo>
                  <a:pt x="1964" y="0"/>
                  <a:pt x="1964" y="0"/>
                  <a:pt x="1964" y="0"/>
                </a:cubicBezTo>
                <a:cubicBezTo>
                  <a:pt x="859" y="0"/>
                  <a:pt x="0" y="1181"/>
                  <a:pt x="0" y="2700"/>
                </a:cubicBezTo>
                <a:cubicBezTo>
                  <a:pt x="0" y="18900"/>
                  <a:pt x="0" y="18900"/>
                  <a:pt x="0" y="18900"/>
                </a:cubicBezTo>
                <a:cubicBezTo>
                  <a:pt x="0" y="20419"/>
                  <a:pt x="859" y="21600"/>
                  <a:pt x="1964" y="21600"/>
                </a:cubicBezTo>
                <a:cubicBezTo>
                  <a:pt x="19636" y="21600"/>
                  <a:pt x="19636" y="21600"/>
                  <a:pt x="19636" y="21600"/>
                </a:cubicBezTo>
                <a:cubicBezTo>
                  <a:pt x="20741" y="21600"/>
                  <a:pt x="21600" y="20419"/>
                  <a:pt x="21600" y="18900"/>
                </a:cubicBezTo>
                <a:cubicBezTo>
                  <a:pt x="21600" y="2700"/>
                  <a:pt x="21600" y="2700"/>
                  <a:pt x="21600" y="2700"/>
                </a:cubicBezTo>
                <a:cubicBezTo>
                  <a:pt x="21600" y="1181"/>
                  <a:pt x="20741" y="0"/>
                  <a:pt x="19636" y="0"/>
                </a:cubicBezTo>
                <a:moveTo>
                  <a:pt x="1964" y="1350"/>
                </a:moveTo>
                <a:cubicBezTo>
                  <a:pt x="19636" y="1350"/>
                  <a:pt x="19636" y="1350"/>
                  <a:pt x="19636" y="1350"/>
                </a:cubicBezTo>
                <a:cubicBezTo>
                  <a:pt x="19759" y="1350"/>
                  <a:pt x="19882" y="1350"/>
                  <a:pt x="20005" y="1350"/>
                </a:cubicBezTo>
                <a:cubicBezTo>
                  <a:pt x="11414" y="13163"/>
                  <a:pt x="11414" y="13163"/>
                  <a:pt x="11414" y="13163"/>
                </a:cubicBezTo>
                <a:cubicBezTo>
                  <a:pt x="11291" y="13331"/>
                  <a:pt x="11045" y="13500"/>
                  <a:pt x="10800" y="13500"/>
                </a:cubicBezTo>
                <a:cubicBezTo>
                  <a:pt x="10555" y="13500"/>
                  <a:pt x="10309" y="13331"/>
                  <a:pt x="10186" y="13163"/>
                </a:cubicBezTo>
                <a:cubicBezTo>
                  <a:pt x="1595" y="1350"/>
                  <a:pt x="1595" y="1350"/>
                  <a:pt x="1595" y="1350"/>
                </a:cubicBezTo>
                <a:cubicBezTo>
                  <a:pt x="1718" y="1350"/>
                  <a:pt x="1841" y="1350"/>
                  <a:pt x="1964" y="1350"/>
                </a:cubicBezTo>
                <a:moveTo>
                  <a:pt x="982" y="18900"/>
                </a:moveTo>
                <a:cubicBezTo>
                  <a:pt x="982" y="2700"/>
                  <a:pt x="982" y="2700"/>
                  <a:pt x="982" y="2700"/>
                </a:cubicBezTo>
                <a:cubicBezTo>
                  <a:pt x="982" y="2700"/>
                  <a:pt x="982" y="2531"/>
                  <a:pt x="982" y="2531"/>
                </a:cubicBezTo>
                <a:cubicBezTo>
                  <a:pt x="7118" y="10800"/>
                  <a:pt x="7118" y="10800"/>
                  <a:pt x="7118" y="10800"/>
                </a:cubicBezTo>
                <a:cubicBezTo>
                  <a:pt x="982" y="19069"/>
                  <a:pt x="982" y="19069"/>
                  <a:pt x="982" y="19069"/>
                </a:cubicBezTo>
                <a:cubicBezTo>
                  <a:pt x="982" y="19069"/>
                  <a:pt x="982" y="18900"/>
                  <a:pt x="982" y="18900"/>
                </a:cubicBezTo>
                <a:moveTo>
                  <a:pt x="19636" y="20250"/>
                </a:moveTo>
                <a:cubicBezTo>
                  <a:pt x="1964" y="20250"/>
                  <a:pt x="1964" y="20250"/>
                  <a:pt x="1964" y="20250"/>
                </a:cubicBezTo>
                <a:cubicBezTo>
                  <a:pt x="1841" y="20250"/>
                  <a:pt x="1718" y="20250"/>
                  <a:pt x="1595" y="20250"/>
                </a:cubicBezTo>
                <a:cubicBezTo>
                  <a:pt x="7732" y="11812"/>
                  <a:pt x="7732" y="11812"/>
                  <a:pt x="7732" y="11812"/>
                </a:cubicBezTo>
                <a:cubicBezTo>
                  <a:pt x="9450" y="14006"/>
                  <a:pt x="9450" y="14006"/>
                  <a:pt x="9450" y="14006"/>
                </a:cubicBezTo>
                <a:cubicBezTo>
                  <a:pt x="9818" y="14512"/>
                  <a:pt x="10309" y="14850"/>
                  <a:pt x="10800" y="14850"/>
                </a:cubicBezTo>
                <a:cubicBezTo>
                  <a:pt x="11291" y="14850"/>
                  <a:pt x="11782" y="14512"/>
                  <a:pt x="12150" y="14006"/>
                </a:cubicBezTo>
                <a:cubicBezTo>
                  <a:pt x="13868" y="11812"/>
                  <a:pt x="13868" y="11812"/>
                  <a:pt x="13868" y="11812"/>
                </a:cubicBezTo>
                <a:cubicBezTo>
                  <a:pt x="20005" y="20250"/>
                  <a:pt x="20005" y="20250"/>
                  <a:pt x="20005" y="20250"/>
                </a:cubicBezTo>
                <a:cubicBezTo>
                  <a:pt x="19882" y="20250"/>
                  <a:pt x="19759" y="20250"/>
                  <a:pt x="19636" y="20250"/>
                </a:cubicBezTo>
                <a:moveTo>
                  <a:pt x="20618" y="18900"/>
                </a:moveTo>
                <a:cubicBezTo>
                  <a:pt x="20618" y="18900"/>
                  <a:pt x="20618" y="19069"/>
                  <a:pt x="20618" y="19069"/>
                </a:cubicBezTo>
                <a:cubicBezTo>
                  <a:pt x="14482" y="10800"/>
                  <a:pt x="14482" y="10800"/>
                  <a:pt x="14482" y="10800"/>
                </a:cubicBezTo>
                <a:cubicBezTo>
                  <a:pt x="20618" y="2531"/>
                  <a:pt x="20618" y="2531"/>
                  <a:pt x="20618" y="2531"/>
                </a:cubicBezTo>
                <a:cubicBezTo>
                  <a:pt x="20618" y="2531"/>
                  <a:pt x="20618" y="2700"/>
                  <a:pt x="20618" y="2700"/>
                </a:cubicBezTo>
                <a:lnTo>
                  <a:pt x="20618" y="18900"/>
                </a:lnTo>
                <a:close/>
              </a:path>
            </a:pathLst>
          </a:custGeom>
          <a:solidFill>
            <a:srgbClr val="CD172D"/>
          </a:solidFill>
          <a:ln w="12700">
            <a:noFill/>
            <a:miter lim="400000"/>
          </a:ln>
        </p:spPr>
        <p:txBody>
          <a:bodyPr lIns="45719" rIns="45719"/>
          <a:lstStyle/>
          <a:p>
            <a:endParaRPr dirty="0">
              <a:latin typeface="+mj-lt"/>
            </a:endParaRPr>
          </a:p>
        </p:txBody>
      </p:sp>
      <p:sp>
        <p:nvSpPr>
          <p:cNvPr id="50" name="Shape">
            <a:extLst>
              <a:ext uri="{FF2B5EF4-FFF2-40B4-BE49-F238E27FC236}">
                <a16:creationId xmlns:a16="http://schemas.microsoft.com/office/drawing/2014/main" id="{C3F02CD4-7EA0-3666-41C6-D476A33143D0}"/>
              </a:ext>
            </a:extLst>
          </p:cNvPr>
          <p:cNvSpPr/>
          <p:nvPr userDrawn="1"/>
        </p:nvSpPr>
        <p:spPr>
          <a:xfrm>
            <a:off x="5196963" y="4512598"/>
            <a:ext cx="257999" cy="2567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82" y="982"/>
                </a:moveTo>
                <a:cubicBezTo>
                  <a:pt x="16691" y="982"/>
                  <a:pt x="20618" y="4909"/>
                  <a:pt x="20618" y="9818"/>
                </a:cubicBezTo>
                <a:cubicBezTo>
                  <a:pt x="20618" y="10064"/>
                  <a:pt x="20864" y="10309"/>
                  <a:pt x="21109" y="10309"/>
                </a:cubicBezTo>
                <a:cubicBezTo>
                  <a:pt x="21355" y="10309"/>
                  <a:pt x="21600" y="10064"/>
                  <a:pt x="21600" y="9818"/>
                </a:cubicBezTo>
                <a:cubicBezTo>
                  <a:pt x="21600" y="4418"/>
                  <a:pt x="17182" y="0"/>
                  <a:pt x="11782" y="0"/>
                </a:cubicBezTo>
                <a:cubicBezTo>
                  <a:pt x="11536" y="0"/>
                  <a:pt x="11291" y="245"/>
                  <a:pt x="11291" y="491"/>
                </a:cubicBezTo>
                <a:cubicBezTo>
                  <a:pt x="11291" y="736"/>
                  <a:pt x="11536" y="982"/>
                  <a:pt x="11782" y="982"/>
                </a:cubicBezTo>
                <a:moveTo>
                  <a:pt x="11782" y="5891"/>
                </a:moveTo>
                <a:cubicBezTo>
                  <a:pt x="13991" y="5891"/>
                  <a:pt x="15709" y="7609"/>
                  <a:pt x="15709" y="9818"/>
                </a:cubicBezTo>
                <a:cubicBezTo>
                  <a:pt x="15709" y="10064"/>
                  <a:pt x="15955" y="10309"/>
                  <a:pt x="16200" y="10309"/>
                </a:cubicBezTo>
                <a:cubicBezTo>
                  <a:pt x="16445" y="10309"/>
                  <a:pt x="16691" y="10064"/>
                  <a:pt x="16691" y="9818"/>
                </a:cubicBezTo>
                <a:cubicBezTo>
                  <a:pt x="16691" y="7118"/>
                  <a:pt x="14482" y="4909"/>
                  <a:pt x="11782" y="4909"/>
                </a:cubicBezTo>
                <a:cubicBezTo>
                  <a:pt x="11536" y="4909"/>
                  <a:pt x="11291" y="5155"/>
                  <a:pt x="11291" y="5400"/>
                </a:cubicBezTo>
                <a:cubicBezTo>
                  <a:pt x="11291" y="5645"/>
                  <a:pt x="11536" y="5891"/>
                  <a:pt x="11782" y="5891"/>
                </a:cubicBezTo>
                <a:moveTo>
                  <a:pt x="11782" y="10800"/>
                </a:moveTo>
                <a:cubicBezTo>
                  <a:pt x="12273" y="10800"/>
                  <a:pt x="12764" y="10309"/>
                  <a:pt x="12764" y="9818"/>
                </a:cubicBezTo>
                <a:cubicBezTo>
                  <a:pt x="12764" y="9327"/>
                  <a:pt x="12273" y="8836"/>
                  <a:pt x="11782" y="8836"/>
                </a:cubicBezTo>
                <a:cubicBezTo>
                  <a:pt x="11291" y="8836"/>
                  <a:pt x="10800" y="9327"/>
                  <a:pt x="10800" y="9818"/>
                </a:cubicBezTo>
                <a:cubicBezTo>
                  <a:pt x="10800" y="10309"/>
                  <a:pt x="11291" y="10800"/>
                  <a:pt x="11782" y="10800"/>
                </a:cubicBezTo>
                <a:moveTo>
                  <a:pt x="21600" y="17182"/>
                </a:moveTo>
                <a:cubicBezTo>
                  <a:pt x="21600" y="16814"/>
                  <a:pt x="21477" y="16445"/>
                  <a:pt x="21109" y="16077"/>
                </a:cubicBezTo>
                <a:cubicBezTo>
                  <a:pt x="21109" y="16077"/>
                  <a:pt x="20986" y="15955"/>
                  <a:pt x="20864" y="15955"/>
                </a:cubicBezTo>
                <a:cubicBezTo>
                  <a:pt x="16691" y="12641"/>
                  <a:pt x="16691" y="12641"/>
                  <a:pt x="16691" y="12641"/>
                </a:cubicBezTo>
                <a:cubicBezTo>
                  <a:pt x="16445" y="12395"/>
                  <a:pt x="16077" y="12273"/>
                  <a:pt x="15709" y="12273"/>
                </a:cubicBezTo>
                <a:cubicBezTo>
                  <a:pt x="15341" y="12273"/>
                  <a:pt x="15095" y="12395"/>
                  <a:pt x="14850" y="12518"/>
                </a:cubicBezTo>
                <a:cubicBezTo>
                  <a:pt x="13623" y="13745"/>
                  <a:pt x="13623" y="13745"/>
                  <a:pt x="13623" y="13745"/>
                </a:cubicBezTo>
                <a:cubicBezTo>
                  <a:pt x="13623" y="13745"/>
                  <a:pt x="13623" y="13745"/>
                  <a:pt x="13623" y="13745"/>
                </a:cubicBezTo>
                <a:cubicBezTo>
                  <a:pt x="13500" y="13991"/>
                  <a:pt x="13255" y="14114"/>
                  <a:pt x="12886" y="14114"/>
                </a:cubicBezTo>
                <a:cubicBezTo>
                  <a:pt x="12641" y="14114"/>
                  <a:pt x="12273" y="13868"/>
                  <a:pt x="12150" y="13623"/>
                </a:cubicBezTo>
                <a:cubicBezTo>
                  <a:pt x="12150" y="13623"/>
                  <a:pt x="12150" y="13623"/>
                  <a:pt x="12150" y="13623"/>
                </a:cubicBezTo>
                <a:cubicBezTo>
                  <a:pt x="10555" y="12518"/>
                  <a:pt x="9082" y="11168"/>
                  <a:pt x="7855" y="9450"/>
                </a:cubicBezTo>
                <a:cubicBezTo>
                  <a:pt x="7977" y="9450"/>
                  <a:pt x="7977" y="9450"/>
                  <a:pt x="7977" y="9450"/>
                </a:cubicBezTo>
                <a:cubicBezTo>
                  <a:pt x="7732" y="9327"/>
                  <a:pt x="7486" y="8959"/>
                  <a:pt x="7486" y="8714"/>
                </a:cubicBezTo>
                <a:cubicBezTo>
                  <a:pt x="7486" y="8345"/>
                  <a:pt x="7609" y="8100"/>
                  <a:pt x="7855" y="7977"/>
                </a:cubicBezTo>
                <a:cubicBezTo>
                  <a:pt x="7855" y="7977"/>
                  <a:pt x="7855" y="7977"/>
                  <a:pt x="7855" y="7977"/>
                </a:cubicBezTo>
                <a:cubicBezTo>
                  <a:pt x="8959" y="6750"/>
                  <a:pt x="8959" y="6750"/>
                  <a:pt x="8959" y="6750"/>
                </a:cubicBezTo>
                <a:cubicBezTo>
                  <a:pt x="9205" y="6505"/>
                  <a:pt x="9327" y="6259"/>
                  <a:pt x="9327" y="5891"/>
                </a:cubicBezTo>
                <a:cubicBezTo>
                  <a:pt x="9327" y="5523"/>
                  <a:pt x="9205" y="5155"/>
                  <a:pt x="8836" y="4909"/>
                </a:cubicBezTo>
                <a:cubicBezTo>
                  <a:pt x="5645" y="736"/>
                  <a:pt x="5645" y="736"/>
                  <a:pt x="5645" y="736"/>
                </a:cubicBezTo>
                <a:cubicBezTo>
                  <a:pt x="5645" y="614"/>
                  <a:pt x="5523" y="491"/>
                  <a:pt x="5400" y="491"/>
                </a:cubicBezTo>
                <a:cubicBezTo>
                  <a:pt x="5155" y="123"/>
                  <a:pt x="4786" y="0"/>
                  <a:pt x="4418" y="0"/>
                </a:cubicBezTo>
                <a:cubicBezTo>
                  <a:pt x="2455" y="0"/>
                  <a:pt x="0" y="2332"/>
                  <a:pt x="0" y="5155"/>
                </a:cubicBezTo>
                <a:cubicBezTo>
                  <a:pt x="0" y="5891"/>
                  <a:pt x="123" y="6627"/>
                  <a:pt x="491" y="7364"/>
                </a:cubicBezTo>
                <a:cubicBezTo>
                  <a:pt x="491" y="7364"/>
                  <a:pt x="491" y="7364"/>
                  <a:pt x="491" y="7364"/>
                </a:cubicBezTo>
                <a:cubicBezTo>
                  <a:pt x="3436" y="13255"/>
                  <a:pt x="8345" y="18164"/>
                  <a:pt x="14236" y="21109"/>
                </a:cubicBezTo>
                <a:cubicBezTo>
                  <a:pt x="14236" y="21109"/>
                  <a:pt x="14236" y="21109"/>
                  <a:pt x="14236" y="21109"/>
                </a:cubicBezTo>
                <a:cubicBezTo>
                  <a:pt x="14850" y="21477"/>
                  <a:pt x="15709" y="21600"/>
                  <a:pt x="16445" y="21600"/>
                </a:cubicBezTo>
                <a:cubicBezTo>
                  <a:pt x="19268" y="21600"/>
                  <a:pt x="21600" y="19145"/>
                  <a:pt x="21600" y="17182"/>
                </a:cubicBezTo>
                <a:cubicBezTo>
                  <a:pt x="21600" y="17182"/>
                  <a:pt x="21600" y="17182"/>
                  <a:pt x="21600" y="17182"/>
                </a:cubicBezTo>
                <a:close/>
                <a:moveTo>
                  <a:pt x="16445" y="20618"/>
                </a:moveTo>
                <a:cubicBezTo>
                  <a:pt x="15832" y="20618"/>
                  <a:pt x="15218" y="20495"/>
                  <a:pt x="14605" y="20250"/>
                </a:cubicBezTo>
                <a:cubicBezTo>
                  <a:pt x="14605" y="20250"/>
                  <a:pt x="14605" y="20127"/>
                  <a:pt x="14482" y="20127"/>
                </a:cubicBezTo>
                <a:cubicBezTo>
                  <a:pt x="8959" y="17305"/>
                  <a:pt x="4295" y="12641"/>
                  <a:pt x="1473" y="7118"/>
                </a:cubicBezTo>
                <a:cubicBezTo>
                  <a:pt x="1473" y="6995"/>
                  <a:pt x="1350" y="6995"/>
                  <a:pt x="1350" y="6995"/>
                </a:cubicBezTo>
                <a:cubicBezTo>
                  <a:pt x="1105" y="6382"/>
                  <a:pt x="982" y="5768"/>
                  <a:pt x="982" y="5155"/>
                </a:cubicBezTo>
                <a:cubicBezTo>
                  <a:pt x="982" y="2823"/>
                  <a:pt x="3068" y="982"/>
                  <a:pt x="4418" y="982"/>
                </a:cubicBezTo>
                <a:cubicBezTo>
                  <a:pt x="4541" y="982"/>
                  <a:pt x="4664" y="1105"/>
                  <a:pt x="4786" y="1105"/>
                </a:cubicBezTo>
                <a:cubicBezTo>
                  <a:pt x="4786" y="1105"/>
                  <a:pt x="4786" y="1105"/>
                  <a:pt x="4786" y="1227"/>
                </a:cubicBezTo>
                <a:cubicBezTo>
                  <a:pt x="4786" y="1227"/>
                  <a:pt x="4909" y="1227"/>
                  <a:pt x="4909" y="1350"/>
                </a:cubicBezTo>
                <a:cubicBezTo>
                  <a:pt x="8100" y="5400"/>
                  <a:pt x="8100" y="5400"/>
                  <a:pt x="8100" y="5400"/>
                </a:cubicBezTo>
                <a:cubicBezTo>
                  <a:pt x="8100" y="5523"/>
                  <a:pt x="8223" y="5523"/>
                  <a:pt x="8223" y="5523"/>
                </a:cubicBezTo>
                <a:cubicBezTo>
                  <a:pt x="8223" y="5645"/>
                  <a:pt x="8345" y="5768"/>
                  <a:pt x="8345" y="5891"/>
                </a:cubicBezTo>
                <a:cubicBezTo>
                  <a:pt x="8345" y="6014"/>
                  <a:pt x="8345" y="6014"/>
                  <a:pt x="8223" y="6136"/>
                </a:cubicBezTo>
                <a:cubicBezTo>
                  <a:pt x="7118" y="7241"/>
                  <a:pt x="7118" y="7241"/>
                  <a:pt x="7118" y="7241"/>
                </a:cubicBezTo>
                <a:cubicBezTo>
                  <a:pt x="7118" y="7241"/>
                  <a:pt x="7118" y="7241"/>
                  <a:pt x="7118" y="7241"/>
                </a:cubicBezTo>
                <a:cubicBezTo>
                  <a:pt x="6750" y="7609"/>
                  <a:pt x="6505" y="8100"/>
                  <a:pt x="6505" y="8714"/>
                </a:cubicBezTo>
                <a:cubicBezTo>
                  <a:pt x="6505" y="9205"/>
                  <a:pt x="6750" y="9695"/>
                  <a:pt x="7118" y="10064"/>
                </a:cubicBezTo>
                <a:cubicBezTo>
                  <a:pt x="7118" y="10064"/>
                  <a:pt x="7118" y="10064"/>
                  <a:pt x="7118" y="10064"/>
                </a:cubicBezTo>
                <a:cubicBezTo>
                  <a:pt x="8345" y="11782"/>
                  <a:pt x="9818" y="13255"/>
                  <a:pt x="11536" y="14482"/>
                </a:cubicBezTo>
                <a:cubicBezTo>
                  <a:pt x="11536" y="14482"/>
                  <a:pt x="11536" y="14482"/>
                  <a:pt x="11536" y="14482"/>
                </a:cubicBezTo>
                <a:cubicBezTo>
                  <a:pt x="11905" y="14850"/>
                  <a:pt x="12395" y="15095"/>
                  <a:pt x="12886" y="15095"/>
                </a:cubicBezTo>
                <a:cubicBezTo>
                  <a:pt x="13377" y="15095"/>
                  <a:pt x="13868" y="14850"/>
                  <a:pt x="14236" y="14482"/>
                </a:cubicBezTo>
                <a:cubicBezTo>
                  <a:pt x="14359" y="14482"/>
                  <a:pt x="14359" y="14482"/>
                  <a:pt x="14359" y="14482"/>
                </a:cubicBezTo>
                <a:cubicBezTo>
                  <a:pt x="15464" y="13377"/>
                  <a:pt x="15464" y="13377"/>
                  <a:pt x="15464" y="13377"/>
                </a:cubicBezTo>
                <a:cubicBezTo>
                  <a:pt x="15586" y="13255"/>
                  <a:pt x="15586" y="13255"/>
                  <a:pt x="15709" y="13255"/>
                </a:cubicBezTo>
                <a:cubicBezTo>
                  <a:pt x="15832" y="13255"/>
                  <a:pt x="15955" y="13377"/>
                  <a:pt x="16077" y="13377"/>
                </a:cubicBezTo>
                <a:cubicBezTo>
                  <a:pt x="16077" y="13377"/>
                  <a:pt x="16077" y="13500"/>
                  <a:pt x="16077" y="13500"/>
                </a:cubicBezTo>
                <a:cubicBezTo>
                  <a:pt x="20250" y="16691"/>
                  <a:pt x="20250" y="16691"/>
                  <a:pt x="20250" y="16691"/>
                </a:cubicBezTo>
                <a:cubicBezTo>
                  <a:pt x="20373" y="16691"/>
                  <a:pt x="20373" y="16691"/>
                  <a:pt x="20373" y="16814"/>
                </a:cubicBezTo>
                <a:cubicBezTo>
                  <a:pt x="20373" y="16814"/>
                  <a:pt x="20495" y="16814"/>
                  <a:pt x="20495" y="16814"/>
                </a:cubicBezTo>
                <a:cubicBezTo>
                  <a:pt x="20495" y="16936"/>
                  <a:pt x="20618" y="16936"/>
                  <a:pt x="20618" y="17182"/>
                </a:cubicBezTo>
                <a:cubicBezTo>
                  <a:pt x="20618" y="17182"/>
                  <a:pt x="20618" y="17182"/>
                  <a:pt x="20618" y="17305"/>
                </a:cubicBezTo>
                <a:cubicBezTo>
                  <a:pt x="20495" y="18655"/>
                  <a:pt x="18777" y="20618"/>
                  <a:pt x="16445" y="20618"/>
                </a:cubicBezTo>
              </a:path>
            </a:pathLst>
          </a:custGeom>
          <a:solidFill>
            <a:srgbClr val="CD172D"/>
          </a:solidFill>
          <a:ln w="12700">
            <a:noFill/>
            <a:miter lim="400000"/>
          </a:ln>
        </p:spPr>
        <p:txBody>
          <a:bodyPr lIns="45719" rIns="45719"/>
          <a:lstStyle/>
          <a:p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51" name="Shape">
            <a:extLst>
              <a:ext uri="{FF2B5EF4-FFF2-40B4-BE49-F238E27FC236}">
                <a16:creationId xmlns:a16="http://schemas.microsoft.com/office/drawing/2014/main" id="{CD9C7A22-43B9-BD86-E57C-8FB879BB406E}"/>
              </a:ext>
            </a:extLst>
          </p:cNvPr>
          <p:cNvSpPr/>
          <p:nvPr userDrawn="1"/>
        </p:nvSpPr>
        <p:spPr>
          <a:xfrm>
            <a:off x="5196963" y="3702717"/>
            <a:ext cx="239914" cy="3309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4894" y="0"/>
                  <a:pt x="0" y="3559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59"/>
                  <a:pt x="16706" y="0"/>
                  <a:pt x="10800" y="0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0"/>
                  <a:pt x="5569" y="982"/>
                  <a:pt x="10800" y="982"/>
                </a:cubicBezTo>
                <a:cubicBezTo>
                  <a:pt x="16031" y="982"/>
                  <a:pt x="20250" y="4050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3927"/>
                </a:moveTo>
                <a:cubicBezTo>
                  <a:pt x="7762" y="3927"/>
                  <a:pt x="5400" y="5645"/>
                  <a:pt x="5400" y="7855"/>
                </a:cubicBezTo>
                <a:cubicBezTo>
                  <a:pt x="5400" y="10064"/>
                  <a:pt x="7762" y="11782"/>
                  <a:pt x="10800" y="11782"/>
                </a:cubicBezTo>
                <a:cubicBezTo>
                  <a:pt x="13837" y="11782"/>
                  <a:pt x="16200" y="10064"/>
                  <a:pt x="16200" y="7855"/>
                </a:cubicBezTo>
                <a:cubicBezTo>
                  <a:pt x="16200" y="5645"/>
                  <a:pt x="13837" y="3927"/>
                  <a:pt x="10800" y="3927"/>
                </a:cubicBezTo>
                <a:moveTo>
                  <a:pt x="10800" y="10800"/>
                </a:moveTo>
                <a:cubicBezTo>
                  <a:pt x="8606" y="10800"/>
                  <a:pt x="6750" y="9450"/>
                  <a:pt x="6750" y="7855"/>
                </a:cubicBezTo>
                <a:cubicBezTo>
                  <a:pt x="6750" y="6259"/>
                  <a:pt x="8606" y="4909"/>
                  <a:pt x="10800" y="4909"/>
                </a:cubicBezTo>
                <a:cubicBezTo>
                  <a:pt x="12994" y="4909"/>
                  <a:pt x="14850" y="6259"/>
                  <a:pt x="14850" y="7855"/>
                </a:cubicBezTo>
                <a:cubicBezTo>
                  <a:pt x="14850" y="9450"/>
                  <a:pt x="12994" y="10800"/>
                  <a:pt x="10800" y="10800"/>
                </a:cubicBezTo>
              </a:path>
            </a:pathLst>
          </a:custGeom>
          <a:solidFill>
            <a:srgbClr val="CD172D"/>
          </a:solidFill>
          <a:ln w="12700">
            <a:noFill/>
            <a:miter lim="400000"/>
          </a:ln>
        </p:spPr>
        <p:txBody>
          <a:bodyPr lIns="45719" rIns="45719"/>
          <a:lstStyle/>
          <a:p>
            <a:endParaRPr dirty="0">
              <a:latin typeface="+mj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1EBDAAD-E34F-BCE5-F183-405F3668FCA5}"/>
              </a:ext>
            </a:extLst>
          </p:cNvPr>
          <p:cNvSpPr txBox="1"/>
          <p:nvPr userDrawn="1"/>
        </p:nvSpPr>
        <p:spPr>
          <a:xfrm>
            <a:off x="9006554" y="3531132"/>
            <a:ext cx="1655351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www.openit.com</a:t>
            </a:r>
          </a:p>
        </p:txBody>
      </p:sp>
      <p:sp>
        <p:nvSpPr>
          <p:cNvPr id="53" name="Shape">
            <a:extLst>
              <a:ext uri="{FF2B5EF4-FFF2-40B4-BE49-F238E27FC236}">
                <a16:creationId xmlns:a16="http://schemas.microsoft.com/office/drawing/2014/main" id="{5AD4E0F7-0FCB-3AB0-4FE3-9FCF8B4AF827}"/>
              </a:ext>
            </a:extLst>
          </p:cNvPr>
          <p:cNvSpPr/>
          <p:nvPr userDrawn="1"/>
        </p:nvSpPr>
        <p:spPr>
          <a:xfrm>
            <a:off x="8624311" y="3613779"/>
            <a:ext cx="255059" cy="2557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4786" y="0"/>
                  <a:pt x="0" y="4786"/>
                  <a:pt x="0" y="10800"/>
                </a:cubicBezTo>
                <a:cubicBezTo>
                  <a:pt x="0" y="16814"/>
                  <a:pt x="4786" y="21600"/>
                  <a:pt x="10800" y="21600"/>
                </a:cubicBezTo>
                <a:cubicBezTo>
                  <a:pt x="16814" y="21600"/>
                  <a:pt x="21600" y="16814"/>
                  <a:pt x="21600" y="10800"/>
                </a:cubicBezTo>
                <a:cubicBezTo>
                  <a:pt x="21600" y="4786"/>
                  <a:pt x="16814" y="0"/>
                  <a:pt x="10800" y="0"/>
                </a:cubicBezTo>
                <a:moveTo>
                  <a:pt x="7855" y="1473"/>
                </a:moveTo>
                <a:cubicBezTo>
                  <a:pt x="7732" y="1595"/>
                  <a:pt x="7486" y="1841"/>
                  <a:pt x="7241" y="2209"/>
                </a:cubicBezTo>
                <a:cubicBezTo>
                  <a:pt x="7241" y="2209"/>
                  <a:pt x="7241" y="2209"/>
                  <a:pt x="7241" y="2209"/>
                </a:cubicBezTo>
                <a:cubicBezTo>
                  <a:pt x="6873" y="2823"/>
                  <a:pt x="6505" y="3436"/>
                  <a:pt x="6136" y="4173"/>
                </a:cubicBezTo>
                <a:cubicBezTo>
                  <a:pt x="6136" y="4173"/>
                  <a:pt x="6136" y="4173"/>
                  <a:pt x="6136" y="4173"/>
                </a:cubicBezTo>
                <a:cubicBezTo>
                  <a:pt x="6136" y="4295"/>
                  <a:pt x="6136" y="4295"/>
                  <a:pt x="6136" y="4418"/>
                </a:cubicBezTo>
                <a:cubicBezTo>
                  <a:pt x="5523" y="4050"/>
                  <a:pt x="4909" y="3682"/>
                  <a:pt x="4418" y="3314"/>
                </a:cubicBezTo>
                <a:cubicBezTo>
                  <a:pt x="5400" y="2455"/>
                  <a:pt x="6627" y="1841"/>
                  <a:pt x="7855" y="1473"/>
                </a:cubicBezTo>
                <a:moveTo>
                  <a:pt x="3805" y="3927"/>
                </a:moveTo>
                <a:cubicBezTo>
                  <a:pt x="4295" y="4418"/>
                  <a:pt x="5032" y="4909"/>
                  <a:pt x="5768" y="5277"/>
                </a:cubicBezTo>
                <a:cubicBezTo>
                  <a:pt x="5768" y="5277"/>
                  <a:pt x="5768" y="5400"/>
                  <a:pt x="5645" y="5400"/>
                </a:cubicBezTo>
                <a:cubicBezTo>
                  <a:pt x="5523" y="6136"/>
                  <a:pt x="5277" y="6995"/>
                  <a:pt x="5155" y="7732"/>
                </a:cubicBezTo>
                <a:cubicBezTo>
                  <a:pt x="5155" y="7855"/>
                  <a:pt x="5155" y="7977"/>
                  <a:pt x="5155" y="8100"/>
                </a:cubicBezTo>
                <a:cubicBezTo>
                  <a:pt x="5032" y="8468"/>
                  <a:pt x="5032" y="8714"/>
                  <a:pt x="5032" y="9082"/>
                </a:cubicBezTo>
                <a:cubicBezTo>
                  <a:pt x="5032" y="9205"/>
                  <a:pt x="4909" y="9327"/>
                  <a:pt x="4909" y="9450"/>
                </a:cubicBezTo>
                <a:cubicBezTo>
                  <a:pt x="4909" y="9695"/>
                  <a:pt x="4909" y="10064"/>
                  <a:pt x="4909" y="10309"/>
                </a:cubicBezTo>
                <a:cubicBezTo>
                  <a:pt x="982" y="10309"/>
                  <a:pt x="982" y="10309"/>
                  <a:pt x="982" y="10309"/>
                </a:cubicBezTo>
                <a:cubicBezTo>
                  <a:pt x="1105" y="7855"/>
                  <a:pt x="2209" y="5645"/>
                  <a:pt x="3805" y="3927"/>
                </a:cubicBezTo>
                <a:moveTo>
                  <a:pt x="982" y="11291"/>
                </a:moveTo>
                <a:cubicBezTo>
                  <a:pt x="4909" y="11291"/>
                  <a:pt x="4909" y="11291"/>
                  <a:pt x="4909" y="11291"/>
                </a:cubicBezTo>
                <a:cubicBezTo>
                  <a:pt x="4909" y="11536"/>
                  <a:pt x="4909" y="11905"/>
                  <a:pt x="4909" y="12150"/>
                </a:cubicBezTo>
                <a:cubicBezTo>
                  <a:pt x="4909" y="12273"/>
                  <a:pt x="5032" y="12395"/>
                  <a:pt x="5032" y="12518"/>
                </a:cubicBezTo>
                <a:cubicBezTo>
                  <a:pt x="5032" y="12886"/>
                  <a:pt x="5032" y="13132"/>
                  <a:pt x="5155" y="13500"/>
                </a:cubicBezTo>
                <a:cubicBezTo>
                  <a:pt x="5155" y="13623"/>
                  <a:pt x="5155" y="13745"/>
                  <a:pt x="5155" y="13868"/>
                </a:cubicBezTo>
                <a:cubicBezTo>
                  <a:pt x="5277" y="14605"/>
                  <a:pt x="5523" y="15464"/>
                  <a:pt x="5645" y="16200"/>
                </a:cubicBezTo>
                <a:cubicBezTo>
                  <a:pt x="5768" y="16200"/>
                  <a:pt x="5768" y="16323"/>
                  <a:pt x="5768" y="16323"/>
                </a:cubicBezTo>
                <a:cubicBezTo>
                  <a:pt x="5032" y="16691"/>
                  <a:pt x="4295" y="17182"/>
                  <a:pt x="3805" y="17673"/>
                </a:cubicBezTo>
                <a:cubicBezTo>
                  <a:pt x="2209" y="15955"/>
                  <a:pt x="1105" y="13745"/>
                  <a:pt x="982" y="11291"/>
                </a:cubicBezTo>
                <a:moveTo>
                  <a:pt x="4418" y="18286"/>
                </a:moveTo>
                <a:cubicBezTo>
                  <a:pt x="4909" y="17918"/>
                  <a:pt x="5523" y="17550"/>
                  <a:pt x="6136" y="17182"/>
                </a:cubicBezTo>
                <a:cubicBezTo>
                  <a:pt x="6136" y="17305"/>
                  <a:pt x="6136" y="17305"/>
                  <a:pt x="6136" y="17427"/>
                </a:cubicBezTo>
                <a:cubicBezTo>
                  <a:pt x="6136" y="17427"/>
                  <a:pt x="6136" y="17427"/>
                  <a:pt x="6136" y="17427"/>
                </a:cubicBezTo>
                <a:cubicBezTo>
                  <a:pt x="6505" y="18164"/>
                  <a:pt x="6873" y="18777"/>
                  <a:pt x="7241" y="19391"/>
                </a:cubicBezTo>
                <a:cubicBezTo>
                  <a:pt x="7241" y="19391"/>
                  <a:pt x="7241" y="19391"/>
                  <a:pt x="7241" y="19391"/>
                </a:cubicBezTo>
                <a:cubicBezTo>
                  <a:pt x="7486" y="19759"/>
                  <a:pt x="7732" y="20005"/>
                  <a:pt x="7855" y="20127"/>
                </a:cubicBezTo>
                <a:cubicBezTo>
                  <a:pt x="6627" y="19759"/>
                  <a:pt x="5400" y="19145"/>
                  <a:pt x="4418" y="18286"/>
                </a:cubicBezTo>
                <a:moveTo>
                  <a:pt x="10309" y="20618"/>
                </a:moveTo>
                <a:cubicBezTo>
                  <a:pt x="8959" y="20250"/>
                  <a:pt x="7732" y="18900"/>
                  <a:pt x="6995" y="16814"/>
                </a:cubicBezTo>
                <a:cubicBezTo>
                  <a:pt x="7977" y="16445"/>
                  <a:pt x="9082" y="16323"/>
                  <a:pt x="10309" y="16200"/>
                </a:cubicBezTo>
                <a:lnTo>
                  <a:pt x="10309" y="20618"/>
                </a:lnTo>
                <a:close/>
                <a:moveTo>
                  <a:pt x="10309" y="15218"/>
                </a:moveTo>
                <a:cubicBezTo>
                  <a:pt x="8959" y="15341"/>
                  <a:pt x="7732" y="15586"/>
                  <a:pt x="6627" y="15955"/>
                </a:cubicBezTo>
                <a:cubicBezTo>
                  <a:pt x="6259" y="14605"/>
                  <a:pt x="5891" y="13009"/>
                  <a:pt x="5891" y="11291"/>
                </a:cubicBezTo>
                <a:cubicBezTo>
                  <a:pt x="10309" y="11291"/>
                  <a:pt x="10309" y="11291"/>
                  <a:pt x="10309" y="11291"/>
                </a:cubicBezTo>
                <a:lnTo>
                  <a:pt x="10309" y="15218"/>
                </a:lnTo>
                <a:close/>
                <a:moveTo>
                  <a:pt x="10309" y="10309"/>
                </a:moveTo>
                <a:cubicBezTo>
                  <a:pt x="5891" y="10309"/>
                  <a:pt x="5891" y="10309"/>
                  <a:pt x="5891" y="10309"/>
                </a:cubicBezTo>
                <a:cubicBezTo>
                  <a:pt x="5891" y="8591"/>
                  <a:pt x="6259" y="6995"/>
                  <a:pt x="6627" y="5645"/>
                </a:cubicBezTo>
                <a:cubicBezTo>
                  <a:pt x="7732" y="6014"/>
                  <a:pt x="8959" y="6259"/>
                  <a:pt x="10309" y="6382"/>
                </a:cubicBezTo>
                <a:lnTo>
                  <a:pt x="10309" y="10309"/>
                </a:lnTo>
                <a:close/>
                <a:moveTo>
                  <a:pt x="10309" y="5400"/>
                </a:moveTo>
                <a:cubicBezTo>
                  <a:pt x="9082" y="5277"/>
                  <a:pt x="7977" y="5155"/>
                  <a:pt x="6995" y="4786"/>
                </a:cubicBezTo>
                <a:cubicBezTo>
                  <a:pt x="7732" y="2700"/>
                  <a:pt x="8959" y="1350"/>
                  <a:pt x="10309" y="982"/>
                </a:cubicBezTo>
                <a:lnTo>
                  <a:pt x="10309" y="5400"/>
                </a:lnTo>
                <a:close/>
                <a:moveTo>
                  <a:pt x="20618" y="10309"/>
                </a:moveTo>
                <a:cubicBezTo>
                  <a:pt x="16691" y="10309"/>
                  <a:pt x="16691" y="10309"/>
                  <a:pt x="16691" y="10309"/>
                </a:cubicBezTo>
                <a:cubicBezTo>
                  <a:pt x="16691" y="10064"/>
                  <a:pt x="16691" y="9695"/>
                  <a:pt x="16691" y="9450"/>
                </a:cubicBezTo>
                <a:cubicBezTo>
                  <a:pt x="16691" y="9327"/>
                  <a:pt x="16568" y="9205"/>
                  <a:pt x="16568" y="9082"/>
                </a:cubicBezTo>
                <a:cubicBezTo>
                  <a:pt x="16568" y="8714"/>
                  <a:pt x="16568" y="8468"/>
                  <a:pt x="16445" y="8100"/>
                </a:cubicBezTo>
                <a:cubicBezTo>
                  <a:pt x="16445" y="7977"/>
                  <a:pt x="16445" y="7855"/>
                  <a:pt x="16445" y="7732"/>
                </a:cubicBezTo>
                <a:cubicBezTo>
                  <a:pt x="16323" y="6995"/>
                  <a:pt x="16077" y="6136"/>
                  <a:pt x="15955" y="5400"/>
                </a:cubicBezTo>
                <a:cubicBezTo>
                  <a:pt x="15832" y="5400"/>
                  <a:pt x="15832" y="5277"/>
                  <a:pt x="15832" y="5277"/>
                </a:cubicBezTo>
                <a:cubicBezTo>
                  <a:pt x="16568" y="4909"/>
                  <a:pt x="17305" y="4418"/>
                  <a:pt x="17795" y="3927"/>
                </a:cubicBezTo>
                <a:cubicBezTo>
                  <a:pt x="19391" y="5645"/>
                  <a:pt x="20495" y="7855"/>
                  <a:pt x="20618" y="10309"/>
                </a:cubicBezTo>
                <a:moveTo>
                  <a:pt x="17182" y="3314"/>
                </a:moveTo>
                <a:cubicBezTo>
                  <a:pt x="16691" y="3682"/>
                  <a:pt x="16077" y="4050"/>
                  <a:pt x="15464" y="4418"/>
                </a:cubicBezTo>
                <a:cubicBezTo>
                  <a:pt x="15464" y="4295"/>
                  <a:pt x="15464" y="4295"/>
                  <a:pt x="15464" y="4173"/>
                </a:cubicBezTo>
                <a:cubicBezTo>
                  <a:pt x="15464" y="4173"/>
                  <a:pt x="15464" y="4173"/>
                  <a:pt x="15464" y="4173"/>
                </a:cubicBezTo>
                <a:cubicBezTo>
                  <a:pt x="15095" y="3436"/>
                  <a:pt x="14727" y="2823"/>
                  <a:pt x="14359" y="2209"/>
                </a:cubicBezTo>
                <a:cubicBezTo>
                  <a:pt x="14359" y="2209"/>
                  <a:pt x="14359" y="2209"/>
                  <a:pt x="14359" y="2209"/>
                </a:cubicBezTo>
                <a:cubicBezTo>
                  <a:pt x="14114" y="1841"/>
                  <a:pt x="13868" y="1595"/>
                  <a:pt x="13745" y="1473"/>
                </a:cubicBezTo>
                <a:cubicBezTo>
                  <a:pt x="14973" y="1841"/>
                  <a:pt x="16200" y="2455"/>
                  <a:pt x="17182" y="3314"/>
                </a:cubicBezTo>
                <a:moveTo>
                  <a:pt x="11291" y="982"/>
                </a:moveTo>
                <a:cubicBezTo>
                  <a:pt x="12641" y="1350"/>
                  <a:pt x="13868" y="2700"/>
                  <a:pt x="14605" y="4786"/>
                </a:cubicBezTo>
                <a:cubicBezTo>
                  <a:pt x="13623" y="5155"/>
                  <a:pt x="12518" y="5277"/>
                  <a:pt x="11291" y="5400"/>
                </a:cubicBezTo>
                <a:lnTo>
                  <a:pt x="11291" y="982"/>
                </a:lnTo>
                <a:close/>
                <a:moveTo>
                  <a:pt x="11291" y="6382"/>
                </a:moveTo>
                <a:cubicBezTo>
                  <a:pt x="12641" y="6259"/>
                  <a:pt x="13868" y="6014"/>
                  <a:pt x="14973" y="5645"/>
                </a:cubicBezTo>
                <a:cubicBezTo>
                  <a:pt x="15341" y="6995"/>
                  <a:pt x="15709" y="8591"/>
                  <a:pt x="15709" y="10309"/>
                </a:cubicBezTo>
                <a:cubicBezTo>
                  <a:pt x="11291" y="10309"/>
                  <a:pt x="11291" y="10309"/>
                  <a:pt x="11291" y="10309"/>
                </a:cubicBezTo>
                <a:lnTo>
                  <a:pt x="11291" y="6382"/>
                </a:lnTo>
                <a:close/>
                <a:moveTo>
                  <a:pt x="11291" y="11291"/>
                </a:moveTo>
                <a:cubicBezTo>
                  <a:pt x="15709" y="11291"/>
                  <a:pt x="15709" y="11291"/>
                  <a:pt x="15709" y="11291"/>
                </a:cubicBezTo>
                <a:cubicBezTo>
                  <a:pt x="15709" y="13009"/>
                  <a:pt x="15341" y="14605"/>
                  <a:pt x="14973" y="15955"/>
                </a:cubicBezTo>
                <a:cubicBezTo>
                  <a:pt x="13868" y="15586"/>
                  <a:pt x="12641" y="15341"/>
                  <a:pt x="11291" y="15218"/>
                </a:cubicBezTo>
                <a:lnTo>
                  <a:pt x="11291" y="11291"/>
                </a:lnTo>
                <a:close/>
                <a:moveTo>
                  <a:pt x="11291" y="20618"/>
                </a:moveTo>
                <a:cubicBezTo>
                  <a:pt x="11291" y="16200"/>
                  <a:pt x="11291" y="16200"/>
                  <a:pt x="11291" y="16200"/>
                </a:cubicBezTo>
                <a:cubicBezTo>
                  <a:pt x="12518" y="16323"/>
                  <a:pt x="13623" y="16445"/>
                  <a:pt x="14605" y="16814"/>
                </a:cubicBezTo>
                <a:cubicBezTo>
                  <a:pt x="13868" y="18900"/>
                  <a:pt x="12641" y="20250"/>
                  <a:pt x="11291" y="20618"/>
                </a:cubicBezTo>
                <a:moveTo>
                  <a:pt x="13745" y="20127"/>
                </a:moveTo>
                <a:cubicBezTo>
                  <a:pt x="13868" y="20005"/>
                  <a:pt x="14114" y="19759"/>
                  <a:pt x="14359" y="19391"/>
                </a:cubicBezTo>
                <a:cubicBezTo>
                  <a:pt x="14359" y="19391"/>
                  <a:pt x="14359" y="19391"/>
                  <a:pt x="14359" y="19391"/>
                </a:cubicBezTo>
                <a:cubicBezTo>
                  <a:pt x="14727" y="18777"/>
                  <a:pt x="15095" y="18164"/>
                  <a:pt x="15464" y="17427"/>
                </a:cubicBezTo>
                <a:cubicBezTo>
                  <a:pt x="15464" y="17427"/>
                  <a:pt x="15464" y="17427"/>
                  <a:pt x="15464" y="17427"/>
                </a:cubicBezTo>
                <a:cubicBezTo>
                  <a:pt x="15464" y="17305"/>
                  <a:pt x="15464" y="17305"/>
                  <a:pt x="15464" y="17182"/>
                </a:cubicBezTo>
                <a:cubicBezTo>
                  <a:pt x="16077" y="17550"/>
                  <a:pt x="16691" y="17918"/>
                  <a:pt x="17182" y="18286"/>
                </a:cubicBezTo>
                <a:cubicBezTo>
                  <a:pt x="16200" y="19145"/>
                  <a:pt x="14973" y="19759"/>
                  <a:pt x="13745" y="20127"/>
                </a:cubicBezTo>
                <a:moveTo>
                  <a:pt x="17795" y="17673"/>
                </a:moveTo>
                <a:cubicBezTo>
                  <a:pt x="17305" y="17182"/>
                  <a:pt x="16568" y="16691"/>
                  <a:pt x="15832" y="16323"/>
                </a:cubicBezTo>
                <a:cubicBezTo>
                  <a:pt x="15832" y="16323"/>
                  <a:pt x="15832" y="16200"/>
                  <a:pt x="15955" y="16200"/>
                </a:cubicBezTo>
                <a:cubicBezTo>
                  <a:pt x="16077" y="15464"/>
                  <a:pt x="16323" y="14605"/>
                  <a:pt x="16445" y="13868"/>
                </a:cubicBezTo>
                <a:cubicBezTo>
                  <a:pt x="16445" y="13745"/>
                  <a:pt x="16445" y="13623"/>
                  <a:pt x="16445" y="13500"/>
                </a:cubicBezTo>
                <a:cubicBezTo>
                  <a:pt x="16568" y="13132"/>
                  <a:pt x="16568" y="12886"/>
                  <a:pt x="16568" y="12518"/>
                </a:cubicBezTo>
                <a:cubicBezTo>
                  <a:pt x="16568" y="12395"/>
                  <a:pt x="16691" y="12273"/>
                  <a:pt x="16691" y="12150"/>
                </a:cubicBezTo>
                <a:cubicBezTo>
                  <a:pt x="16691" y="11905"/>
                  <a:pt x="16691" y="11536"/>
                  <a:pt x="16691" y="11291"/>
                </a:cubicBezTo>
                <a:cubicBezTo>
                  <a:pt x="20618" y="11291"/>
                  <a:pt x="20618" y="11291"/>
                  <a:pt x="20618" y="11291"/>
                </a:cubicBezTo>
                <a:cubicBezTo>
                  <a:pt x="20495" y="13745"/>
                  <a:pt x="19391" y="15955"/>
                  <a:pt x="17795" y="17673"/>
                </a:cubicBezTo>
              </a:path>
            </a:pathLst>
          </a:custGeom>
          <a:solidFill>
            <a:srgbClr val="CD172D"/>
          </a:solidFill>
          <a:ln w="12700">
            <a:noFill/>
            <a:miter lim="400000"/>
          </a:ln>
        </p:spPr>
        <p:txBody>
          <a:bodyPr lIns="45719" rIns="45719"/>
          <a:lstStyle/>
          <a:p>
            <a:endParaRPr sz="1200" dirty="0">
              <a:solidFill>
                <a:srgbClr val="CD172D"/>
              </a:solidFill>
              <a:latin typeface="+mj-lt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3E0BD8-1F06-A963-94E9-74F7B917D9C2}"/>
              </a:ext>
            </a:extLst>
          </p:cNvPr>
          <p:cNvSpPr txBox="1"/>
          <p:nvPr userDrawn="1"/>
        </p:nvSpPr>
        <p:spPr>
          <a:xfrm>
            <a:off x="9006554" y="4009661"/>
            <a:ext cx="1409602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/OpeniTInc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7266E79-E274-B252-B020-9CE2C95F43D6}"/>
              </a:ext>
            </a:extLst>
          </p:cNvPr>
          <p:cNvSpPr txBox="1"/>
          <p:nvPr userDrawn="1"/>
        </p:nvSpPr>
        <p:spPr>
          <a:xfrm>
            <a:off x="9006554" y="4533662"/>
            <a:ext cx="1409602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/OpeniTInc</a:t>
            </a:r>
          </a:p>
        </p:txBody>
      </p:sp>
      <p:pic>
        <p:nvPicPr>
          <p:cNvPr id="61" name="Picture 60" descr="A red and black logo&#10;&#10;Description automatically generated">
            <a:extLst>
              <a:ext uri="{FF2B5EF4-FFF2-40B4-BE49-F238E27FC236}">
                <a16:creationId xmlns:a16="http://schemas.microsoft.com/office/drawing/2014/main" id="{E14618F5-A28E-E0FB-2966-A51E3313DCC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38" y="4156637"/>
            <a:ext cx="3008044" cy="1361536"/>
          </a:xfrm>
          <a:prstGeom prst="rect">
            <a:avLst/>
          </a:prstGeom>
        </p:spPr>
      </p:pic>
      <p:sp>
        <p:nvSpPr>
          <p:cNvPr id="62" name="Graphic 25">
            <a:extLst>
              <a:ext uri="{FF2B5EF4-FFF2-40B4-BE49-F238E27FC236}">
                <a16:creationId xmlns:a16="http://schemas.microsoft.com/office/drawing/2014/main" id="{DD13E9CF-64A1-46FB-7BE9-BE4D0D39AFB8}"/>
              </a:ext>
            </a:extLst>
          </p:cNvPr>
          <p:cNvSpPr/>
          <p:nvPr userDrawn="1"/>
        </p:nvSpPr>
        <p:spPr>
          <a:xfrm>
            <a:off x="8634610" y="4071518"/>
            <a:ext cx="219456" cy="219456"/>
          </a:xfrm>
          <a:custGeom>
            <a:avLst/>
            <a:gdLst>
              <a:gd name="connsiteX0" fmla="*/ 203210 w 219456"/>
              <a:gd name="connsiteY0" fmla="*/ 0 h 219456"/>
              <a:gd name="connsiteX1" fmla="*/ 16185 w 219456"/>
              <a:gd name="connsiteY1" fmla="*/ 0 h 219456"/>
              <a:gd name="connsiteX2" fmla="*/ 0 w 219456"/>
              <a:gd name="connsiteY2" fmla="*/ 15819 h 219456"/>
              <a:gd name="connsiteX3" fmla="*/ 0 w 219456"/>
              <a:gd name="connsiteY3" fmla="*/ 203622 h 219456"/>
              <a:gd name="connsiteX4" fmla="*/ 16185 w 219456"/>
              <a:gd name="connsiteY4" fmla="*/ 219456 h 219456"/>
              <a:gd name="connsiteX5" fmla="*/ 203210 w 219456"/>
              <a:gd name="connsiteY5" fmla="*/ 219456 h 219456"/>
              <a:gd name="connsiteX6" fmla="*/ 219456 w 219456"/>
              <a:gd name="connsiteY6" fmla="*/ 203622 h 219456"/>
              <a:gd name="connsiteX7" fmla="*/ 219456 w 219456"/>
              <a:gd name="connsiteY7" fmla="*/ 15819 h 219456"/>
              <a:gd name="connsiteX8" fmla="*/ 203210 w 219456"/>
              <a:gd name="connsiteY8" fmla="*/ 0 h 219456"/>
              <a:gd name="connsiteX9" fmla="*/ 65090 w 219456"/>
              <a:gd name="connsiteY9" fmla="*/ 187010 h 219456"/>
              <a:gd name="connsiteX10" fmla="*/ 32537 w 219456"/>
              <a:gd name="connsiteY10" fmla="*/ 187010 h 219456"/>
              <a:gd name="connsiteX11" fmla="*/ 32537 w 219456"/>
              <a:gd name="connsiteY11" fmla="*/ 82281 h 219456"/>
              <a:gd name="connsiteX12" fmla="*/ 65090 w 219456"/>
              <a:gd name="connsiteY12" fmla="*/ 82281 h 219456"/>
              <a:gd name="connsiteX13" fmla="*/ 65090 w 219456"/>
              <a:gd name="connsiteY13" fmla="*/ 187010 h 219456"/>
              <a:gd name="connsiteX14" fmla="*/ 48814 w 219456"/>
              <a:gd name="connsiteY14" fmla="*/ 67955 h 219456"/>
              <a:gd name="connsiteX15" fmla="*/ 29931 w 219456"/>
              <a:gd name="connsiteY15" fmla="*/ 49088 h 219456"/>
              <a:gd name="connsiteX16" fmla="*/ 48814 w 219456"/>
              <a:gd name="connsiteY16" fmla="*/ 30221 h 219456"/>
              <a:gd name="connsiteX17" fmla="*/ 67681 w 219456"/>
              <a:gd name="connsiteY17" fmla="*/ 49088 h 219456"/>
              <a:gd name="connsiteX18" fmla="*/ 48814 w 219456"/>
              <a:gd name="connsiteY18" fmla="*/ 67955 h 219456"/>
              <a:gd name="connsiteX19" fmla="*/ 186995 w 219456"/>
              <a:gd name="connsiteY19" fmla="*/ 187010 h 219456"/>
              <a:gd name="connsiteX20" fmla="*/ 154473 w 219456"/>
              <a:gd name="connsiteY20" fmla="*/ 187010 h 219456"/>
              <a:gd name="connsiteX21" fmla="*/ 154473 w 219456"/>
              <a:gd name="connsiteY21" fmla="*/ 136078 h 219456"/>
              <a:gd name="connsiteX22" fmla="*/ 137556 w 219456"/>
              <a:gd name="connsiteY22" fmla="*/ 108311 h 219456"/>
              <a:gd name="connsiteX23" fmla="*/ 118019 w 219456"/>
              <a:gd name="connsiteY23" fmla="*/ 135194 h 219456"/>
              <a:gd name="connsiteX24" fmla="*/ 118019 w 219456"/>
              <a:gd name="connsiteY24" fmla="*/ 187010 h 219456"/>
              <a:gd name="connsiteX25" fmla="*/ 85496 w 219456"/>
              <a:gd name="connsiteY25" fmla="*/ 187010 h 219456"/>
              <a:gd name="connsiteX26" fmla="*/ 85496 w 219456"/>
              <a:gd name="connsiteY26" fmla="*/ 82281 h 219456"/>
              <a:gd name="connsiteX27" fmla="*/ 116723 w 219456"/>
              <a:gd name="connsiteY27" fmla="*/ 82281 h 219456"/>
              <a:gd name="connsiteX28" fmla="*/ 116723 w 219456"/>
              <a:gd name="connsiteY28" fmla="*/ 96591 h 219456"/>
              <a:gd name="connsiteX29" fmla="*/ 117150 w 219456"/>
              <a:gd name="connsiteY29" fmla="*/ 96591 h 219456"/>
              <a:gd name="connsiteX30" fmla="*/ 147950 w 219456"/>
              <a:gd name="connsiteY30" fmla="*/ 79675 h 219456"/>
              <a:gd name="connsiteX31" fmla="*/ 186995 w 219456"/>
              <a:gd name="connsiteY31" fmla="*/ 129555 h 219456"/>
              <a:gd name="connsiteX32" fmla="*/ 186995 w 219456"/>
              <a:gd name="connsiteY32" fmla="*/ 187010 h 219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19456" h="219456">
                <a:moveTo>
                  <a:pt x="203210" y="0"/>
                </a:moveTo>
                <a:lnTo>
                  <a:pt x="16185" y="0"/>
                </a:lnTo>
                <a:cubicBezTo>
                  <a:pt x="7254" y="0"/>
                  <a:pt x="0" y="7087"/>
                  <a:pt x="0" y="15819"/>
                </a:cubicBezTo>
                <a:lnTo>
                  <a:pt x="0" y="203622"/>
                </a:lnTo>
                <a:cubicBezTo>
                  <a:pt x="0" y="212369"/>
                  <a:pt x="7254" y="219456"/>
                  <a:pt x="16185" y="219456"/>
                </a:cubicBezTo>
                <a:lnTo>
                  <a:pt x="203210" y="219456"/>
                </a:lnTo>
                <a:cubicBezTo>
                  <a:pt x="212156" y="219456"/>
                  <a:pt x="219456" y="212369"/>
                  <a:pt x="219456" y="203622"/>
                </a:cubicBezTo>
                <a:lnTo>
                  <a:pt x="219456" y="15819"/>
                </a:lnTo>
                <a:cubicBezTo>
                  <a:pt x="219456" y="7087"/>
                  <a:pt x="212156" y="0"/>
                  <a:pt x="203210" y="0"/>
                </a:cubicBezTo>
                <a:close/>
                <a:moveTo>
                  <a:pt x="65090" y="187010"/>
                </a:moveTo>
                <a:lnTo>
                  <a:pt x="32537" y="187010"/>
                </a:lnTo>
                <a:lnTo>
                  <a:pt x="32537" y="82281"/>
                </a:lnTo>
                <a:lnTo>
                  <a:pt x="65090" y="82281"/>
                </a:lnTo>
                <a:lnTo>
                  <a:pt x="65090" y="187010"/>
                </a:lnTo>
                <a:close/>
                <a:moveTo>
                  <a:pt x="48814" y="67955"/>
                </a:moveTo>
                <a:cubicBezTo>
                  <a:pt x="38390" y="67955"/>
                  <a:pt x="29931" y="59497"/>
                  <a:pt x="29931" y="49088"/>
                </a:cubicBezTo>
                <a:cubicBezTo>
                  <a:pt x="29931" y="38679"/>
                  <a:pt x="38390" y="30221"/>
                  <a:pt x="48814" y="30221"/>
                </a:cubicBezTo>
                <a:cubicBezTo>
                  <a:pt x="59238" y="30221"/>
                  <a:pt x="67681" y="38679"/>
                  <a:pt x="67681" y="49088"/>
                </a:cubicBezTo>
                <a:cubicBezTo>
                  <a:pt x="67681" y="59497"/>
                  <a:pt x="59223" y="67955"/>
                  <a:pt x="48814" y="67955"/>
                </a:cubicBezTo>
                <a:close/>
                <a:moveTo>
                  <a:pt x="186995" y="187010"/>
                </a:moveTo>
                <a:lnTo>
                  <a:pt x="154473" y="187010"/>
                </a:lnTo>
                <a:lnTo>
                  <a:pt x="154473" y="136078"/>
                </a:lnTo>
                <a:cubicBezTo>
                  <a:pt x="154473" y="123932"/>
                  <a:pt x="154244" y="108311"/>
                  <a:pt x="137556" y="108311"/>
                </a:cubicBezTo>
                <a:cubicBezTo>
                  <a:pt x="120868" y="108311"/>
                  <a:pt x="118019" y="121539"/>
                  <a:pt x="118019" y="135194"/>
                </a:cubicBezTo>
                <a:lnTo>
                  <a:pt x="118019" y="187010"/>
                </a:lnTo>
                <a:lnTo>
                  <a:pt x="85496" y="187010"/>
                </a:lnTo>
                <a:lnTo>
                  <a:pt x="85496" y="82281"/>
                </a:lnTo>
                <a:lnTo>
                  <a:pt x="116723" y="82281"/>
                </a:lnTo>
                <a:lnTo>
                  <a:pt x="116723" y="96591"/>
                </a:lnTo>
                <a:lnTo>
                  <a:pt x="117150" y="96591"/>
                </a:lnTo>
                <a:cubicBezTo>
                  <a:pt x="121509" y="88346"/>
                  <a:pt x="132116" y="79675"/>
                  <a:pt x="147950" y="79675"/>
                </a:cubicBezTo>
                <a:cubicBezTo>
                  <a:pt x="180914" y="79675"/>
                  <a:pt x="186995" y="101361"/>
                  <a:pt x="186995" y="129555"/>
                </a:cubicBezTo>
                <a:lnTo>
                  <a:pt x="186995" y="187010"/>
                </a:lnTo>
                <a:close/>
              </a:path>
            </a:pathLst>
          </a:custGeom>
          <a:solidFill>
            <a:srgbClr val="CD172D"/>
          </a:solidFill>
          <a:ln w="152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3" name="Freeform 303">
            <a:extLst>
              <a:ext uri="{FF2B5EF4-FFF2-40B4-BE49-F238E27FC236}">
                <a16:creationId xmlns:a16="http://schemas.microsoft.com/office/drawing/2014/main" id="{2359E98E-8F51-F71A-D91D-F147004F5E09}"/>
              </a:ext>
            </a:extLst>
          </p:cNvPr>
          <p:cNvSpPr>
            <a:spLocks/>
          </p:cNvSpPr>
          <p:nvPr userDrawn="1"/>
        </p:nvSpPr>
        <p:spPr bwMode="auto">
          <a:xfrm>
            <a:off x="8680961" y="4582676"/>
            <a:ext cx="127722" cy="245142"/>
          </a:xfrm>
          <a:custGeom>
            <a:avLst/>
            <a:gdLst>
              <a:gd name="T0" fmla="*/ 325 w 325"/>
              <a:gd name="T1" fmla="*/ 104 h 626"/>
              <a:gd name="T2" fmla="*/ 266 w 325"/>
              <a:gd name="T3" fmla="*/ 104 h 626"/>
              <a:gd name="T4" fmla="*/ 211 w 325"/>
              <a:gd name="T5" fmla="*/ 158 h 626"/>
              <a:gd name="T6" fmla="*/ 211 w 325"/>
              <a:gd name="T7" fmla="*/ 229 h 626"/>
              <a:gd name="T8" fmla="*/ 321 w 325"/>
              <a:gd name="T9" fmla="*/ 229 h 626"/>
              <a:gd name="T10" fmla="*/ 321 w 325"/>
              <a:gd name="T11" fmla="*/ 340 h 626"/>
              <a:gd name="T12" fmla="*/ 211 w 325"/>
              <a:gd name="T13" fmla="*/ 340 h 626"/>
              <a:gd name="T14" fmla="*/ 211 w 325"/>
              <a:gd name="T15" fmla="*/ 626 h 626"/>
              <a:gd name="T16" fmla="*/ 96 w 325"/>
              <a:gd name="T17" fmla="*/ 626 h 626"/>
              <a:gd name="T18" fmla="*/ 96 w 325"/>
              <a:gd name="T19" fmla="*/ 340 h 626"/>
              <a:gd name="T20" fmla="*/ 0 w 325"/>
              <a:gd name="T21" fmla="*/ 340 h 626"/>
              <a:gd name="T22" fmla="*/ 0 w 325"/>
              <a:gd name="T23" fmla="*/ 229 h 626"/>
              <a:gd name="T24" fmla="*/ 96 w 325"/>
              <a:gd name="T25" fmla="*/ 229 h 626"/>
              <a:gd name="T26" fmla="*/ 96 w 325"/>
              <a:gd name="T27" fmla="*/ 147 h 626"/>
              <a:gd name="T28" fmla="*/ 239 w 325"/>
              <a:gd name="T29" fmla="*/ 0 h 626"/>
              <a:gd name="T30" fmla="*/ 325 w 325"/>
              <a:gd name="T31" fmla="*/ 0 h 626"/>
              <a:gd name="T32" fmla="*/ 325 w 325"/>
              <a:gd name="T33" fmla="*/ 104 h 6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5" h="626">
                <a:moveTo>
                  <a:pt x="325" y="104"/>
                </a:moveTo>
                <a:lnTo>
                  <a:pt x="266" y="104"/>
                </a:lnTo>
                <a:cubicBezTo>
                  <a:pt x="220" y="104"/>
                  <a:pt x="211" y="126"/>
                  <a:pt x="211" y="158"/>
                </a:cubicBezTo>
                <a:lnTo>
                  <a:pt x="211" y="229"/>
                </a:lnTo>
                <a:lnTo>
                  <a:pt x="321" y="229"/>
                </a:lnTo>
                <a:lnTo>
                  <a:pt x="321" y="340"/>
                </a:lnTo>
                <a:lnTo>
                  <a:pt x="211" y="340"/>
                </a:lnTo>
                <a:lnTo>
                  <a:pt x="211" y="626"/>
                </a:lnTo>
                <a:lnTo>
                  <a:pt x="96" y="626"/>
                </a:lnTo>
                <a:lnTo>
                  <a:pt x="96" y="340"/>
                </a:lnTo>
                <a:lnTo>
                  <a:pt x="0" y="340"/>
                </a:lnTo>
                <a:lnTo>
                  <a:pt x="0" y="229"/>
                </a:lnTo>
                <a:lnTo>
                  <a:pt x="96" y="229"/>
                </a:lnTo>
                <a:lnTo>
                  <a:pt x="96" y="147"/>
                </a:lnTo>
                <a:cubicBezTo>
                  <a:pt x="96" y="52"/>
                  <a:pt x="154" y="0"/>
                  <a:pt x="239" y="0"/>
                </a:cubicBezTo>
                <a:lnTo>
                  <a:pt x="325" y="0"/>
                </a:lnTo>
                <a:lnTo>
                  <a:pt x="325" y="104"/>
                </a:lnTo>
                <a:close/>
              </a:path>
            </a:pathLst>
          </a:custGeom>
          <a:solidFill>
            <a:srgbClr val="CD172D"/>
          </a:solidFill>
          <a:ln>
            <a:noFill/>
          </a:ln>
        </p:spPr>
        <p:txBody>
          <a:bodyPr vert="horz" wrap="square" lIns="146078" tIns="73039" rIns="146078" bIns="73039" numCol="1" anchor="t" anchorCtr="0" compatLnSpc="1">
            <a:prstTxWarp prst="textNoShape">
              <a:avLst/>
            </a:prstTxWarp>
          </a:bodyPr>
          <a:lstStyle/>
          <a:p>
            <a:endParaRPr lang="en-US" sz="2876" dirty="0">
              <a:solidFill>
                <a:srgbClr val="CD172D"/>
              </a:solidFill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106096-6AB4-2B35-4B38-5FF7EA787FD7}"/>
              </a:ext>
            </a:extLst>
          </p:cNvPr>
          <p:cNvSpPr/>
          <p:nvPr userDrawn="1"/>
        </p:nvSpPr>
        <p:spPr>
          <a:xfrm>
            <a:off x="10661905" y="6163235"/>
            <a:ext cx="1413554" cy="5602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546F5F-4792-9ECE-C7AC-8E75EC25FA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06D56B-5F1E-7FDC-98AA-E99244B5D55C}"/>
              </a:ext>
            </a:extLst>
          </p:cNvPr>
          <p:cNvSpPr txBox="1"/>
          <p:nvPr userDrawn="1"/>
        </p:nvSpPr>
        <p:spPr>
          <a:xfrm>
            <a:off x="708211" y="6532066"/>
            <a:ext cx="5024569" cy="215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© 2026 Open iT, Inc. All rights reserved. Company Confidential. </a:t>
            </a:r>
            <a:r>
              <a:rPr lang="en-PH" dirty="0"/>
              <a:t>ISO/IEC 27001:2022 Certified | BARR Certifications.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04A74A-7E39-4472-C72F-31CA890A964E}"/>
              </a:ext>
            </a:extLst>
          </p:cNvPr>
          <p:cNvSpPr txBox="1"/>
          <p:nvPr userDrawn="1"/>
        </p:nvSpPr>
        <p:spPr>
          <a:xfrm>
            <a:off x="8996255" y="5045602"/>
            <a:ext cx="1409602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@OpeniTInc</a:t>
            </a:r>
          </a:p>
        </p:txBody>
      </p:sp>
      <p:sp>
        <p:nvSpPr>
          <p:cNvPr id="6" name="Graphic 5">
            <a:extLst>
              <a:ext uri="{FF2B5EF4-FFF2-40B4-BE49-F238E27FC236}">
                <a16:creationId xmlns:a16="http://schemas.microsoft.com/office/drawing/2014/main" id="{4D0A1DF4-1217-2405-AF99-7EEBB16DE1CE}"/>
              </a:ext>
            </a:extLst>
          </p:cNvPr>
          <p:cNvSpPr/>
          <p:nvPr userDrawn="1"/>
        </p:nvSpPr>
        <p:spPr>
          <a:xfrm>
            <a:off x="8620666" y="5148939"/>
            <a:ext cx="240317" cy="180464"/>
          </a:xfrm>
          <a:custGeom>
            <a:avLst/>
            <a:gdLst>
              <a:gd name="connsiteX0" fmla="*/ 354902 w 356712"/>
              <a:gd name="connsiteY0" fmla="*/ 72683 h 267870"/>
              <a:gd name="connsiteX1" fmla="*/ 347282 w 356712"/>
              <a:gd name="connsiteY1" fmla="*/ 33726 h 267870"/>
              <a:gd name="connsiteX2" fmla="*/ 307754 w 356712"/>
              <a:gd name="connsiteY2" fmla="*/ 4294 h 267870"/>
              <a:gd name="connsiteX3" fmla="*/ 256223 w 356712"/>
              <a:gd name="connsiteY3" fmla="*/ 1341 h 267870"/>
              <a:gd name="connsiteX4" fmla="*/ 151163 w 356712"/>
              <a:gd name="connsiteY4" fmla="*/ 8 h 267870"/>
              <a:gd name="connsiteX5" fmla="*/ 74867 w 356712"/>
              <a:gd name="connsiteY5" fmla="*/ 2389 h 267870"/>
              <a:gd name="connsiteX6" fmla="*/ 45054 w 356712"/>
              <a:gd name="connsiteY6" fmla="*/ 4770 h 267870"/>
              <a:gd name="connsiteX7" fmla="*/ 10574 w 356712"/>
              <a:gd name="connsiteY7" fmla="*/ 31916 h 267870"/>
              <a:gd name="connsiteX8" fmla="*/ 2192 w 356712"/>
              <a:gd name="connsiteY8" fmla="*/ 70302 h 267870"/>
              <a:gd name="connsiteX9" fmla="*/ 382 w 356712"/>
              <a:gd name="connsiteY9" fmla="*/ 162409 h 267870"/>
              <a:gd name="connsiteX10" fmla="*/ 5049 w 356712"/>
              <a:gd name="connsiteY10" fmla="*/ 217749 h 267870"/>
              <a:gd name="connsiteX11" fmla="*/ 9335 w 356712"/>
              <a:gd name="connsiteY11" fmla="*/ 232227 h 267870"/>
              <a:gd name="connsiteX12" fmla="*/ 44864 w 356712"/>
              <a:gd name="connsiteY12" fmla="*/ 262231 h 267870"/>
              <a:gd name="connsiteX13" fmla="*/ 77725 w 356712"/>
              <a:gd name="connsiteY13" fmla="*/ 265374 h 267870"/>
              <a:gd name="connsiteX14" fmla="*/ 207265 w 356712"/>
              <a:gd name="connsiteY14" fmla="*/ 267755 h 267870"/>
              <a:gd name="connsiteX15" fmla="*/ 291466 w 356712"/>
              <a:gd name="connsiteY15" fmla="*/ 264803 h 267870"/>
              <a:gd name="connsiteX16" fmla="*/ 314612 w 356712"/>
              <a:gd name="connsiteY16" fmla="*/ 262231 h 267870"/>
              <a:gd name="connsiteX17" fmla="*/ 346235 w 356712"/>
              <a:gd name="connsiteY17" fmla="*/ 235847 h 267870"/>
              <a:gd name="connsiteX18" fmla="*/ 354902 w 356712"/>
              <a:gd name="connsiteY18" fmla="*/ 195080 h 267870"/>
              <a:gd name="connsiteX19" fmla="*/ 356712 w 356712"/>
              <a:gd name="connsiteY19" fmla="*/ 168791 h 267870"/>
              <a:gd name="connsiteX20" fmla="*/ 356712 w 356712"/>
              <a:gd name="connsiteY20" fmla="*/ 98972 h 267870"/>
              <a:gd name="connsiteX21" fmla="*/ 354902 w 356712"/>
              <a:gd name="connsiteY21" fmla="*/ 72683 h 267870"/>
              <a:gd name="connsiteX22" fmla="*/ 241460 w 356712"/>
              <a:gd name="connsiteY22" fmla="*/ 135834 h 267870"/>
              <a:gd name="connsiteX23" fmla="*/ 138018 w 356712"/>
              <a:gd name="connsiteY23" fmla="*/ 197937 h 267870"/>
              <a:gd name="connsiteX24" fmla="*/ 135065 w 356712"/>
              <a:gd name="connsiteY24" fmla="*/ 198985 h 267870"/>
              <a:gd name="connsiteX25" fmla="*/ 134303 w 356712"/>
              <a:gd name="connsiteY25" fmla="*/ 195651 h 267870"/>
              <a:gd name="connsiteX26" fmla="*/ 134303 w 356712"/>
              <a:gd name="connsiteY26" fmla="*/ 71921 h 267870"/>
              <a:gd name="connsiteX27" fmla="*/ 138018 w 356712"/>
              <a:gd name="connsiteY27" fmla="*/ 69826 h 267870"/>
              <a:gd name="connsiteX28" fmla="*/ 241460 w 356712"/>
              <a:gd name="connsiteY28" fmla="*/ 131929 h 267870"/>
              <a:gd name="connsiteX29" fmla="*/ 241460 w 356712"/>
              <a:gd name="connsiteY29" fmla="*/ 135834 h 267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356712" h="267870">
                <a:moveTo>
                  <a:pt x="354902" y="72683"/>
                </a:moveTo>
                <a:cubicBezTo>
                  <a:pt x="354140" y="59539"/>
                  <a:pt x="352235" y="46109"/>
                  <a:pt x="347282" y="33726"/>
                </a:cubicBezTo>
                <a:cubicBezTo>
                  <a:pt x="340139" y="15819"/>
                  <a:pt x="326708" y="6389"/>
                  <a:pt x="307754" y="4294"/>
                </a:cubicBezTo>
                <a:cubicBezTo>
                  <a:pt x="290704" y="2389"/>
                  <a:pt x="273273" y="2103"/>
                  <a:pt x="256223" y="1341"/>
                </a:cubicBezTo>
                <a:cubicBezTo>
                  <a:pt x="221171" y="-183"/>
                  <a:pt x="186215" y="8"/>
                  <a:pt x="151163" y="8"/>
                </a:cubicBezTo>
                <a:cubicBezTo>
                  <a:pt x="125636" y="293"/>
                  <a:pt x="100394" y="1055"/>
                  <a:pt x="74867" y="2389"/>
                </a:cubicBezTo>
                <a:cubicBezTo>
                  <a:pt x="65057" y="2960"/>
                  <a:pt x="55055" y="3151"/>
                  <a:pt x="45054" y="4770"/>
                </a:cubicBezTo>
                <a:cubicBezTo>
                  <a:pt x="29052" y="7913"/>
                  <a:pt x="17146" y="16581"/>
                  <a:pt x="10574" y="31916"/>
                </a:cubicBezTo>
                <a:cubicBezTo>
                  <a:pt x="5335" y="44299"/>
                  <a:pt x="3525" y="57158"/>
                  <a:pt x="2192" y="70302"/>
                </a:cubicBezTo>
                <a:cubicBezTo>
                  <a:pt x="-475" y="100877"/>
                  <a:pt x="-190" y="131643"/>
                  <a:pt x="382" y="162409"/>
                </a:cubicBezTo>
                <a:cubicBezTo>
                  <a:pt x="572" y="180887"/>
                  <a:pt x="1620" y="199271"/>
                  <a:pt x="5049" y="217749"/>
                </a:cubicBezTo>
                <a:cubicBezTo>
                  <a:pt x="6097" y="222702"/>
                  <a:pt x="7430" y="227465"/>
                  <a:pt x="9335" y="232227"/>
                </a:cubicBezTo>
                <a:cubicBezTo>
                  <a:pt x="15050" y="249277"/>
                  <a:pt x="27433" y="258802"/>
                  <a:pt x="44864" y="262231"/>
                </a:cubicBezTo>
                <a:cubicBezTo>
                  <a:pt x="55627" y="264326"/>
                  <a:pt x="66676" y="265088"/>
                  <a:pt x="77725" y="265374"/>
                </a:cubicBezTo>
                <a:cubicBezTo>
                  <a:pt x="120873" y="267184"/>
                  <a:pt x="164021" y="268232"/>
                  <a:pt x="207265" y="267755"/>
                </a:cubicBezTo>
                <a:cubicBezTo>
                  <a:pt x="235364" y="267184"/>
                  <a:pt x="263558" y="266422"/>
                  <a:pt x="291466" y="264803"/>
                </a:cubicBezTo>
                <a:cubicBezTo>
                  <a:pt x="299086" y="264326"/>
                  <a:pt x="306992" y="264041"/>
                  <a:pt x="314612" y="262231"/>
                </a:cubicBezTo>
                <a:cubicBezTo>
                  <a:pt x="329375" y="258516"/>
                  <a:pt x="340139" y="250134"/>
                  <a:pt x="346235" y="235847"/>
                </a:cubicBezTo>
                <a:cubicBezTo>
                  <a:pt x="351950" y="222988"/>
                  <a:pt x="353855" y="208986"/>
                  <a:pt x="354902" y="195080"/>
                </a:cubicBezTo>
                <a:cubicBezTo>
                  <a:pt x="355379" y="186126"/>
                  <a:pt x="356236" y="177458"/>
                  <a:pt x="356712" y="168791"/>
                </a:cubicBezTo>
                <a:lnTo>
                  <a:pt x="356712" y="98972"/>
                </a:lnTo>
                <a:cubicBezTo>
                  <a:pt x="356236" y="90305"/>
                  <a:pt x="355379" y="81637"/>
                  <a:pt x="354902" y="72683"/>
                </a:cubicBezTo>
                <a:close/>
                <a:moveTo>
                  <a:pt x="241460" y="135834"/>
                </a:moveTo>
                <a:cubicBezTo>
                  <a:pt x="206979" y="156694"/>
                  <a:pt x="172499" y="177173"/>
                  <a:pt x="138018" y="197937"/>
                </a:cubicBezTo>
                <a:cubicBezTo>
                  <a:pt x="137256" y="198509"/>
                  <a:pt x="136113" y="199556"/>
                  <a:pt x="135065" y="198985"/>
                </a:cubicBezTo>
                <a:cubicBezTo>
                  <a:pt x="133827" y="198223"/>
                  <a:pt x="134303" y="196699"/>
                  <a:pt x="134303" y="195651"/>
                </a:cubicBezTo>
                <a:lnTo>
                  <a:pt x="134303" y="71921"/>
                </a:lnTo>
                <a:cubicBezTo>
                  <a:pt x="134303" y="67921"/>
                  <a:pt x="134589" y="67635"/>
                  <a:pt x="138018" y="69826"/>
                </a:cubicBezTo>
                <a:cubicBezTo>
                  <a:pt x="172499" y="90590"/>
                  <a:pt x="206979" y="111069"/>
                  <a:pt x="241460" y="131929"/>
                </a:cubicBezTo>
                <a:cubicBezTo>
                  <a:pt x="244603" y="133739"/>
                  <a:pt x="244603" y="134024"/>
                  <a:pt x="241460" y="135834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79EB65-7C16-15CF-1264-214935278286}"/>
              </a:ext>
            </a:extLst>
          </p:cNvPr>
          <p:cNvSpPr txBox="1"/>
          <p:nvPr userDrawn="1"/>
        </p:nvSpPr>
        <p:spPr>
          <a:xfrm>
            <a:off x="5656374" y="3391654"/>
            <a:ext cx="1952740" cy="894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nn-NO" sz="1200" b="0" i="0" dirty="0">
                <a:solidFill>
                  <a:srgbClr val="303030"/>
                </a:solidFill>
                <a:effectLst/>
                <a:latin typeface="Source Sans Pro" panose="020B0503030403020204" pitchFamily="34" charset="0"/>
              </a:rPr>
              <a:t>Karoline Kristiansens </a:t>
            </a:r>
            <a:r>
              <a:rPr lang="nn-NO" sz="1200" dirty="0"/>
              <a:t>vei 5 </a:t>
            </a:r>
            <a:r>
              <a:rPr lang="nn-NO" sz="1200" b="0" i="0" dirty="0">
                <a:solidFill>
                  <a:srgbClr val="303030"/>
                </a:solidFill>
                <a:effectLst/>
                <a:latin typeface="Source Sans Pro" panose="020B0503030403020204" pitchFamily="34" charset="0"/>
              </a:rPr>
              <a:t>N-0661 Oslo</a:t>
            </a:r>
          </a:p>
          <a:p>
            <a:pPr>
              <a:lnSpc>
                <a:spcPct val="150000"/>
              </a:lnSpc>
            </a:pPr>
            <a:r>
              <a:rPr lang="nn-NO" sz="1200" b="0" i="0" dirty="0">
                <a:solidFill>
                  <a:srgbClr val="303030"/>
                </a:solidFill>
                <a:effectLst/>
                <a:latin typeface="Source Sans Pro" panose="020B0503030403020204" pitchFamily="34" charset="0"/>
              </a:rPr>
              <a:t>Norway</a:t>
            </a:r>
            <a:endParaRPr lang="en-US" sz="1200" dirty="0">
              <a:solidFill>
                <a:schemeClr val="tx1"/>
              </a:solidFill>
              <a:latin typeface="+mj-lt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843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Slid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3F89D8C-F4C4-4BD8-A676-885EF132B06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82544" y="0"/>
            <a:ext cx="4909457" cy="6858000"/>
          </a:xfrm>
          <a:custGeom>
            <a:avLst/>
            <a:gdLst>
              <a:gd name="connsiteX0" fmla="*/ 0 w 4909457"/>
              <a:gd name="connsiteY0" fmla="*/ 0 h 6858000"/>
              <a:gd name="connsiteX1" fmla="*/ 4909457 w 4909457"/>
              <a:gd name="connsiteY1" fmla="*/ 0 h 6858000"/>
              <a:gd name="connsiteX2" fmla="*/ 4909457 w 4909457"/>
              <a:gd name="connsiteY2" fmla="*/ 6858000 h 6858000"/>
              <a:gd name="connsiteX3" fmla="*/ 0 w 490945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09457" h="6858000">
                <a:moveTo>
                  <a:pt x="0" y="0"/>
                </a:moveTo>
                <a:lnTo>
                  <a:pt x="4909457" y="0"/>
                </a:lnTo>
                <a:lnTo>
                  <a:pt x="4909457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6BEAB-C306-4107-1924-5709D2424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884D33-BABF-FDDC-F4D1-DDCC1A17C0D5}"/>
              </a:ext>
            </a:extLst>
          </p:cNvPr>
          <p:cNvSpPr txBox="1"/>
          <p:nvPr userDrawn="1"/>
        </p:nvSpPr>
        <p:spPr>
          <a:xfrm>
            <a:off x="708211" y="6532066"/>
            <a:ext cx="5037269" cy="215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© 2026 Open iT, Inc. All rights reserved. Company Confidential. </a:t>
            </a:r>
            <a:r>
              <a:rPr lang="en-PH" dirty="0"/>
              <a:t>ISO/IEC 27001:2022 Certified | BARR Certifications.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5565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Blue blocks and networks technology background">
            <a:extLst>
              <a:ext uri="{FF2B5EF4-FFF2-40B4-BE49-F238E27FC236}">
                <a16:creationId xmlns:a16="http://schemas.microsoft.com/office/drawing/2014/main" id="{89D3FABE-2BCA-CE6E-C252-1A3488087E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82544" y="0"/>
            <a:ext cx="4909456" cy="68580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BA0F6B9-2265-B3FA-C52E-B46238D48A91}"/>
              </a:ext>
            </a:extLst>
          </p:cNvPr>
          <p:cNvSpPr/>
          <p:nvPr userDrawn="1"/>
        </p:nvSpPr>
        <p:spPr>
          <a:xfrm>
            <a:off x="1188720" y="1036320"/>
            <a:ext cx="8153400" cy="208788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tx2">
                  <a:shade val="30000"/>
                  <a:satMod val="115000"/>
                </a:schemeClr>
              </a:gs>
              <a:gs pos="50000">
                <a:schemeClr val="tx2">
                  <a:shade val="67500"/>
                  <a:satMod val="115000"/>
                </a:schemeClr>
              </a:gs>
              <a:gs pos="100000">
                <a:schemeClr val="tx2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D0DCEC-45DC-CA88-4E1D-938EE37952A8}"/>
              </a:ext>
            </a:extLst>
          </p:cNvPr>
          <p:cNvSpPr txBox="1"/>
          <p:nvPr userDrawn="1"/>
        </p:nvSpPr>
        <p:spPr>
          <a:xfrm>
            <a:off x="2900830" y="1480096"/>
            <a:ext cx="47291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+mj-lt"/>
                <a:ea typeface="Inter" panose="020B0502030000000004" pitchFamily="34" charset="0"/>
                <a:cs typeface="Open Sans" panose="020B0606030504020204" pitchFamily="34" charset="0"/>
              </a:rPr>
              <a:t>Thank You</a:t>
            </a:r>
            <a:r>
              <a:rPr lang="en-US" sz="7200" b="1" dirty="0">
                <a:solidFill>
                  <a:srgbClr val="CD172D"/>
                </a:solidFill>
                <a:latin typeface="+mj-lt"/>
                <a:ea typeface="Inter" panose="020B0502030000000004" pitchFamily="34" charset="0"/>
                <a:cs typeface="Open Sans" panose="020B0606030504020204" pitchFamily="34" charset="0"/>
              </a:rPr>
              <a:t>.</a:t>
            </a:r>
            <a:endParaRPr lang="en-ID" sz="7200" b="1" dirty="0">
              <a:solidFill>
                <a:srgbClr val="CD172D"/>
              </a:solidFill>
              <a:latin typeface="+mj-lt"/>
              <a:ea typeface="Inter" panose="020B05020300000000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F6543D-DA01-C332-3986-3CF86829DDE4}"/>
              </a:ext>
            </a:extLst>
          </p:cNvPr>
          <p:cNvSpPr/>
          <p:nvPr/>
        </p:nvSpPr>
        <p:spPr>
          <a:xfrm>
            <a:off x="1188720" y="3991430"/>
            <a:ext cx="5375059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6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Open Sans" panose="020B0606030504020204" pitchFamily="34" charset="0"/>
                <a:cs typeface="Poppins" panose="00000500000000000000" pitchFamily="2" charset="0"/>
              </a:rPr>
              <a:t>Dedicated to </a:t>
            </a:r>
            <a:r>
              <a:rPr lang="en-US" sz="6600" b="1" i="0" dirty="0">
                <a:solidFill>
                  <a:srgbClr val="CD172D"/>
                </a:solidFill>
                <a:latin typeface="+mj-lt"/>
                <a:ea typeface="Open Sans" panose="020B0606030504020204" pitchFamily="34" charset="0"/>
                <a:cs typeface="Poppins" panose="00000500000000000000" pitchFamily="2" charset="0"/>
              </a:rPr>
              <a:t>Optimization</a:t>
            </a:r>
          </a:p>
        </p:txBody>
      </p:sp>
      <p:pic>
        <p:nvPicPr>
          <p:cNvPr id="10" name="Picture 9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EB598A8-A790-3D72-75A0-5A9EAF0DBBB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756" y="6256116"/>
            <a:ext cx="1221104" cy="477424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3683B15-DD6A-3F62-058D-429D0F04CC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E54193-BACD-42BA-CFED-116B32B2BD15}"/>
              </a:ext>
            </a:extLst>
          </p:cNvPr>
          <p:cNvSpPr txBox="1"/>
          <p:nvPr userDrawn="1"/>
        </p:nvSpPr>
        <p:spPr>
          <a:xfrm>
            <a:off x="708211" y="6532066"/>
            <a:ext cx="5016949" cy="215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© 2026 Open iT, Inc. All rights reserved. Company Confidential. </a:t>
            </a:r>
            <a:r>
              <a:rPr lang="en-PH" dirty="0"/>
              <a:t>ISO/IEC 27001:2022 Certified | BARR Certifications.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38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87F3726-AE5B-9D3F-E58E-C5481775FAB8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4"/>
          <a:stretch>
            <a:fillRect/>
          </a:stretch>
        </p:blipFill>
        <p:spPr>
          <a:xfrm>
            <a:off x="0" y="0"/>
            <a:ext cx="12192000" cy="6782468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8D4F39-66F3-E4AD-556E-F84482C50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C3F73D-436A-99CB-802A-3C0AEC929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F8CA12-A0A5-DF07-3533-1085FBA45E76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317" y="6246271"/>
            <a:ext cx="1230966" cy="49320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592C617-7B7D-8FC0-0DE3-225B197C4A79}"/>
              </a:ext>
            </a:extLst>
          </p:cNvPr>
          <p:cNvSpPr/>
          <p:nvPr userDrawn="1"/>
        </p:nvSpPr>
        <p:spPr>
          <a:xfrm>
            <a:off x="0" y="6766561"/>
            <a:ext cx="10423003" cy="914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CEBFEC-8AED-1238-C9E7-C8C32093BE3F}"/>
              </a:ext>
            </a:extLst>
          </p:cNvPr>
          <p:cNvSpPr/>
          <p:nvPr userDrawn="1"/>
        </p:nvSpPr>
        <p:spPr>
          <a:xfrm>
            <a:off x="10423003" y="6766559"/>
            <a:ext cx="1768997" cy="91441"/>
          </a:xfrm>
          <a:prstGeom prst="rect">
            <a:avLst/>
          </a:prstGeom>
          <a:solidFill>
            <a:srgbClr val="CD17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3238B-3F65-7181-3D1C-8F1E840A88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0729" y="6454962"/>
            <a:ext cx="452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10CB6-4CE5-4ABA-9365-71738FB6F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005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690" r:id="rId2"/>
    <p:sldLayoutId id="2147483701" r:id="rId3"/>
    <p:sldLayoutId id="2147483650" r:id="rId4"/>
    <p:sldLayoutId id="2147483654" r:id="rId5"/>
    <p:sldLayoutId id="2147483655" r:id="rId6"/>
    <p:sldLayoutId id="2147483705" r:id="rId7"/>
    <p:sldLayoutId id="2147483692" r:id="rId8"/>
    <p:sldLayoutId id="2147483704" r:id="rId9"/>
    <p:sldLayoutId id="2147483708" r:id="rId10"/>
    <p:sldLayoutId id="2147483693" r:id="rId11"/>
    <p:sldLayoutId id="2147483703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Source Sans Pro" panose="020B0503030403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ource Sans Pro" panose="020B0503030403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Source Sans Pro" panose="020B0503030403020204" pitchFamily="34" charset="0"/>
        <a:buChar char="–"/>
        <a:defRPr sz="2400" kern="1200">
          <a:solidFill>
            <a:schemeClr val="tx1"/>
          </a:solidFill>
          <a:latin typeface="Source Sans Pro" panose="020B05030304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Source Sans Pro" panose="020B05030304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ource Sans Pro" panose="020B05030304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ource Sans Pro" panose="020B05030304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15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E964620-C4AB-E45C-F1C6-9C71FA3DAD74}"/>
              </a:ext>
            </a:extLst>
          </p:cNvPr>
          <p:cNvSpPr/>
          <p:nvPr/>
        </p:nvSpPr>
        <p:spPr>
          <a:xfrm>
            <a:off x="0" y="635924"/>
            <a:ext cx="10445393" cy="5524244"/>
          </a:xfrm>
          <a:prstGeom prst="roundRect">
            <a:avLst>
              <a:gd name="adj" fmla="val 988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2833092-7703-20E9-2EA9-C1B5ED3E4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3395"/>
            <a:ext cx="7981604" cy="1771873"/>
          </a:xfrm>
        </p:spPr>
        <p:txBody>
          <a:bodyPr/>
          <a:lstStyle/>
          <a:p>
            <a:r>
              <a:rPr lang="en-US" dirty="0"/>
              <a:t>Regression and Statistical Algorithms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A0C8282-C4AD-A207-EE8A-B31256F051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4700049"/>
            <a:ext cx="5990863" cy="433747"/>
          </a:xfrm>
        </p:spPr>
        <p:txBody>
          <a:bodyPr/>
          <a:lstStyle/>
          <a:p>
            <a:endParaRPr lang="en-PH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8C5C7EB-774C-F46B-7AFD-CD9FB875BA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5216458"/>
            <a:ext cx="5990863" cy="433747"/>
          </a:xfrm>
        </p:spPr>
        <p:txBody>
          <a:bodyPr/>
          <a:lstStyle/>
          <a:p>
            <a:endParaRPr lang="en-PH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EB0BA55A-BC98-E4DA-52A7-613A393FE3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44300" y="145598"/>
            <a:ext cx="962101" cy="49032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AC78E65-F36F-97D3-D645-B86F808104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1060186"/>
            <a:ext cx="4794825" cy="95064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ED471DE-88A2-8F22-D69F-6A87E9C207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72863" y="517358"/>
            <a:ext cx="2627977" cy="249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48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/>
      <p:bldP spid="12" grpId="0" build="p"/>
      <p:bldP spid="1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8C182AD-86FB-0FC9-884B-09E3CF5398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78246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12B59AC-F5F5-E537-0BF3-3D898AC53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6FD1EC-45AF-046E-6C56-B51FB301F5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87799" y="1266444"/>
            <a:ext cx="7981484" cy="469408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111111"/>
                </a:solidFill>
                <a:latin typeface="+mj-lt"/>
                <a:ea typeface="Calibri" pitchFamily="34" charset="-122"/>
                <a:cs typeface="Calibri" pitchFamily="34" charset="-120"/>
              </a:rPr>
              <a:t>Business Dataset Overview</a:t>
            </a:r>
            <a:endParaRPr lang="en-US" dirty="0">
              <a:latin typeface="+mj-lt"/>
            </a:endParaRPr>
          </a:p>
          <a:p>
            <a:r>
              <a:rPr lang="en-US" dirty="0">
                <a:solidFill>
                  <a:srgbClr val="111111"/>
                </a:solidFill>
                <a:latin typeface="+mj-lt"/>
                <a:ea typeface="Calibri" pitchFamily="34" charset="-122"/>
                <a:cs typeface="Calibri" pitchFamily="34" charset="-120"/>
              </a:rPr>
              <a:t>Correlation and Correlation Heatmap</a:t>
            </a:r>
          </a:p>
          <a:p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Regression?</a:t>
            </a:r>
            <a:endParaRPr lang="en-US" dirty="0"/>
          </a:p>
          <a:p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Setup, Formula &amp; Residuals</a:t>
            </a:r>
            <a:endParaRPr lang="en-US" dirty="0"/>
          </a:p>
          <a:p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Plot</a:t>
            </a:r>
            <a:endParaRPr lang="en-US" dirty="0"/>
          </a:p>
          <a:p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R-squared and RMSE</a:t>
            </a:r>
            <a:endParaRPr lang="en-US" dirty="0"/>
          </a:p>
          <a:p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Demo Walkthrough</a:t>
            </a:r>
            <a:endParaRPr lang="en-US" dirty="0"/>
          </a:p>
          <a:p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BC9069D-5D22-D11D-42F5-9F0B0C1C1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19971" y="290009"/>
            <a:ext cx="1693700" cy="4932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351457-FE6B-499C-AB18-7776A623B0C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317" y="245536"/>
            <a:ext cx="1230966" cy="49320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E273CD-DA94-4DCA-18AA-CB6A100FE0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2035" y="3818342"/>
            <a:ext cx="2627977" cy="249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229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278CFF-1887-D0B6-FEE5-DF0DDCF75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Dataset: Marketing Campaign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AE5EF-2705-B3B8-0A66-A09359A901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C2CB140-9519-6258-7F87-857676DEB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63040"/>
            <a:ext cx="365760" cy="365760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D3EECEE6-953F-8796-5A3B-D0D2F130F118}"/>
              </a:ext>
            </a:extLst>
          </p:cNvPr>
          <p:cNvSpPr/>
          <p:nvPr/>
        </p:nvSpPr>
        <p:spPr>
          <a:xfrm>
            <a:off x="128016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Fields</a:t>
            </a:r>
            <a:endParaRPr lang="en-US" sz="1600" dirty="0"/>
          </a:p>
        </p:txBody>
      </p:sp>
      <p:graphicFrame>
        <p:nvGraphicFramePr>
          <p:cNvPr id="12" name="Table 0">
            <a:extLst>
              <a:ext uri="{FF2B5EF4-FFF2-40B4-BE49-F238E27FC236}">
                <a16:creationId xmlns:a16="http://schemas.microsoft.com/office/drawing/2014/main" id="{DB268C87-1288-5F05-63B6-60E6ACAD67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134188"/>
              </p:ext>
            </p:extLst>
          </p:nvPr>
        </p:nvGraphicFramePr>
        <p:xfrm>
          <a:off x="822960" y="2011680"/>
          <a:ext cx="10515600" cy="36576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>
                          <a:solidFill>
                            <a:srgbClr val="B91C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month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 month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 err="1">
                          <a:solidFill>
                            <a:srgbClr val="B91C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campaign_name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 identifier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 err="1">
                          <a:solidFill>
                            <a:srgbClr val="B91C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mkt_spend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budget in dollars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B91C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visits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visits generated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>
                          <a:solidFill>
                            <a:srgbClr val="B91C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leads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 leads from campaign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>
                          <a:solidFill>
                            <a:srgbClr val="B91C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conv_rate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Lead-to-sale ratio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>
                          <a:solidFill>
                            <a:srgbClr val="B91C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revenue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generated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Shape 6">
            <a:extLst>
              <a:ext uri="{FF2B5EF4-FFF2-40B4-BE49-F238E27FC236}">
                <a16:creationId xmlns:a16="http://schemas.microsoft.com/office/drawing/2014/main" id="{DF1FD566-433C-EF48-B245-11866A60F231}"/>
              </a:ext>
            </a:extLst>
          </p:cNvPr>
          <p:cNvSpPr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F173C862-15FA-E4EC-809C-16C87FC97FEF}"/>
              </a:ext>
            </a:extLst>
          </p:cNvPr>
          <p:cNvSpPr/>
          <p:nvPr/>
        </p:nvSpPr>
        <p:spPr>
          <a:xfrm>
            <a:off x="1097280" y="5669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sample scenario comes from regression-sample-data.csv and uses monthly campaign observations.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08193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DA147-29B3-583C-DF65-5CABD9E19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ABC867-8629-58FE-57AA-D0BD5E300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Pearson Correlation Coefficient (r)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880533-8DE1-18F1-B2F9-3418F38DE0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455EB7D8-F885-C397-657E-84DE0A81845F}"/>
              </a:ext>
            </a:extLst>
          </p:cNvPr>
          <p:cNvSpPr/>
          <p:nvPr/>
        </p:nvSpPr>
        <p:spPr>
          <a:xfrm>
            <a:off x="10620181" y="6361611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19</a:t>
            </a:r>
            <a:endParaRPr lang="en-US" sz="900" dirty="0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0847BB6F-C6C9-F7C0-BCEB-510560DF97FE}"/>
              </a:ext>
            </a:extLst>
          </p:cNvPr>
          <p:cNvSpPr/>
          <p:nvPr/>
        </p:nvSpPr>
        <p:spPr>
          <a:xfrm>
            <a:off x="623046" y="2521131"/>
            <a:ext cx="33832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H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E966CC84-E4EA-D609-83D4-52F3DF1E51B5}"/>
              </a:ext>
            </a:extLst>
          </p:cNvPr>
          <p:cNvSpPr/>
          <p:nvPr/>
        </p:nvSpPr>
        <p:spPr>
          <a:xfrm>
            <a:off x="623046" y="2521131"/>
            <a:ext cx="3383280" cy="54864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H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F76561C-436E-3470-F2AC-BEAA6562794F}"/>
              </a:ext>
            </a:extLst>
          </p:cNvPr>
          <p:cNvSpPr/>
          <p:nvPr/>
        </p:nvSpPr>
        <p:spPr>
          <a:xfrm>
            <a:off x="897366" y="2795451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Positive</a:t>
            </a:r>
            <a:endParaRPr lang="en-US" sz="17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39C1A8F6-5893-7588-ECED-12ABC54B638F}"/>
              </a:ext>
            </a:extLst>
          </p:cNvPr>
          <p:cNvSpPr/>
          <p:nvPr/>
        </p:nvSpPr>
        <p:spPr>
          <a:xfrm>
            <a:off x="897366" y="3206931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≈ +1</a:t>
            </a:r>
            <a:endParaRPr lang="en-US" sz="20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63806B58-972C-C5B5-4B40-DC0DE401845E}"/>
              </a:ext>
            </a:extLst>
          </p:cNvPr>
          <p:cNvSpPr/>
          <p:nvPr/>
        </p:nvSpPr>
        <p:spPr>
          <a:xfrm>
            <a:off x="897366" y="3709851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X increases, Y increases proportionally. Example: more spend, more revenue.</a:t>
            </a:r>
            <a:endParaRPr lang="en-US" sz="1600" dirty="0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C6D214E4-8867-D45B-E055-8E3D0BF69031}"/>
              </a:ext>
            </a:extLst>
          </p:cNvPr>
          <p:cNvSpPr/>
          <p:nvPr/>
        </p:nvSpPr>
        <p:spPr>
          <a:xfrm>
            <a:off x="4280646" y="2521131"/>
            <a:ext cx="33832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H"/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0F96C88F-18AF-91BE-4316-935CA17DCFD0}"/>
              </a:ext>
            </a:extLst>
          </p:cNvPr>
          <p:cNvSpPr/>
          <p:nvPr/>
        </p:nvSpPr>
        <p:spPr>
          <a:xfrm>
            <a:off x="4280646" y="2521131"/>
            <a:ext cx="3383280" cy="54864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H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ED786C8D-72AF-B73C-19D1-AC270F30CE91}"/>
              </a:ext>
            </a:extLst>
          </p:cNvPr>
          <p:cNvSpPr/>
          <p:nvPr/>
        </p:nvSpPr>
        <p:spPr>
          <a:xfrm>
            <a:off x="4554966" y="2795451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 / None</a:t>
            </a:r>
            <a:endParaRPr lang="en-US" sz="17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83DD7458-AA0E-2B2C-B340-F1633F9601EF}"/>
              </a:ext>
            </a:extLst>
          </p:cNvPr>
          <p:cNvSpPr/>
          <p:nvPr/>
        </p:nvSpPr>
        <p:spPr>
          <a:xfrm>
            <a:off x="4554966" y="3206931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CA8A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≈ 0</a:t>
            </a:r>
            <a:endParaRPr lang="en-US" sz="2000" dirty="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12D943F2-110E-E9C3-AEC9-408A182A8B87}"/>
              </a:ext>
            </a:extLst>
          </p:cNvPr>
          <p:cNvSpPr/>
          <p:nvPr/>
        </p:nvSpPr>
        <p:spPr>
          <a:xfrm>
            <a:off x="4554966" y="3709851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linear pattern between X and Y. Variables move independently.</a:t>
            </a:r>
            <a:endParaRPr lang="en-US" sz="1600" dirty="0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284B049B-FC79-93E8-A677-0F236F4585E7}"/>
              </a:ext>
            </a:extLst>
          </p:cNvPr>
          <p:cNvSpPr/>
          <p:nvPr/>
        </p:nvSpPr>
        <p:spPr>
          <a:xfrm>
            <a:off x="7938246" y="2521131"/>
            <a:ext cx="33832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H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16BFD9F2-B3B1-7947-A74A-FB3B807AEB1E}"/>
              </a:ext>
            </a:extLst>
          </p:cNvPr>
          <p:cNvSpPr/>
          <p:nvPr/>
        </p:nvSpPr>
        <p:spPr>
          <a:xfrm>
            <a:off x="7938246" y="2521131"/>
            <a:ext cx="3383280" cy="54864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H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A4ACEF41-36B7-7BBA-8CF9-2C68D13E0EE7}"/>
              </a:ext>
            </a:extLst>
          </p:cNvPr>
          <p:cNvSpPr/>
          <p:nvPr/>
        </p:nvSpPr>
        <p:spPr>
          <a:xfrm>
            <a:off x="8212566" y="2795451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Negative</a:t>
            </a:r>
            <a:endParaRPr lang="en-US" sz="1700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AC94D081-61E3-5CD6-4C69-F839B745C53C}"/>
              </a:ext>
            </a:extLst>
          </p:cNvPr>
          <p:cNvSpPr/>
          <p:nvPr/>
        </p:nvSpPr>
        <p:spPr>
          <a:xfrm>
            <a:off x="8212566" y="3206931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≈ −1</a:t>
            </a:r>
            <a:endParaRPr lang="en-US" sz="2000" dirty="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C2F974D6-C176-ADB2-004E-F31AFCC2BFD2}"/>
              </a:ext>
            </a:extLst>
          </p:cNvPr>
          <p:cNvSpPr/>
          <p:nvPr/>
        </p:nvSpPr>
        <p:spPr>
          <a:xfrm>
            <a:off x="8212566" y="3709851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X increases, Y decreases. Example: higher price, fewer units sold.</a:t>
            </a:r>
            <a:endParaRPr lang="en-US" sz="1600" dirty="0"/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8A2CE67A-3FAE-AA2A-0C84-6A664FB2E33E}"/>
              </a:ext>
            </a:extLst>
          </p:cNvPr>
          <p:cNvSpPr/>
          <p:nvPr/>
        </p:nvSpPr>
        <p:spPr>
          <a:xfrm>
            <a:off x="623046" y="1432284"/>
            <a:ext cx="10515600" cy="8229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84ED5521-9AE5-60EA-FE68-48F190847640}"/>
              </a:ext>
            </a:extLst>
          </p:cNvPr>
          <p:cNvSpPr/>
          <p:nvPr/>
        </p:nvSpPr>
        <p:spPr>
          <a:xfrm>
            <a:off x="623046" y="142771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Σ[(xi − x̄)(</a:t>
            </a:r>
            <a:r>
              <a:rPr lang="en-US" b="1" dirty="0" err="1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</a:t>
            </a:r>
            <a:r>
              <a:rPr lang="en-US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− ȳ)] / √[Σ(xi − x̄)² · Σ(</a:t>
            </a:r>
            <a:r>
              <a:rPr lang="en-US" b="1" dirty="0" err="1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</a:t>
            </a:r>
            <a:r>
              <a:rPr lang="en-US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− ȳ)²]     Range: −1 to +1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930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1E7D8-4F5C-07F0-0101-A9F3EEAA5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Correlation Heatmap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AE4290-54BE-877B-6976-5816C6832D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8D612CCF-6556-5F7F-D010-42F11DB06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177476"/>
              </p:ext>
            </p:extLst>
          </p:nvPr>
        </p:nvGraphicFramePr>
        <p:xfrm>
          <a:off x="822960" y="1645920"/>
          <a:ext cx="6858000" cy="38404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mkt_spend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visits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leads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conv_rate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revenue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mkt_spend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0.98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0.98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0.99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visits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0.98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0.99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0.58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0.96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leads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0.98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0.99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0.97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A3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conv_rate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0.58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revenue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0.99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0.96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0.97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5">
            <a:extLst>
              <a:ext uri="{FF2B5EF4-FFF2-40B4-BE49-F238E27FC236}">
                <a16:creationId xmlns:a16="http://schemas.microsoft.com/office/drawing/2014/main" id="{ABACE17A-A22C-8D6F-4B94-79FF91B43F94}"/>
              </a:ext>
            </a:extLst>
          </p:cNvPr>
          <p:cNvSpPr/>
          <p:nvPr/>
        </p:nvSpPr>
        <p:spPr>
          <a:xfrm>
            <a:off x="8046720" y="1645920"/>
            <a:ext cx="3383280" cy="4754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49165456-066F-4F0A-0450-4AFDD3843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920240"/>
            <a:ext cx="320040" cy="320040"/>
          </a:xfrm>
          <a:prstGeom prst="rect">
            <a:avLst/>
          </a:prstGeom>
        </p:spPr>
      </p:pic>
      <p:sp>
        <p:nvSpPr>
          <p:cNvPr id="7" name="Text 6">
            <a:extLst>
              <a:ext uri="{FF2B5EF4-FFF2-40B4-BE49-F238E27FC236}">
                <a16:creationId xmlns:a16="http://schemas.microsoft.com/office/drawing/2014/main" id="{8E92C1A5-0F3F-A3AF-24E7-35129C9750E3}"/>
              </a:ext>
            </a:extLst>
          </p:cNvPr>
          <p:cNvSpPr/>
          <p:nvPr/>
        </p:nvSpPr>
        <p:spPr>
          <a:xfrm>
            <a:off x="8732520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the Heatmap</a:t>
            </a:r>
            <a:endParaRPr lang="en-US" sz="15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4FBD34FC-4BDA-7F54-ABB9-C21A71EF2E81}"/>
              </a:ext>
            </a:extLst>
          </p:cNvPr>
          <p:cNvSpPr/>
          <p:nvPr/>
        </p:nvSpPr>
        <p:spPr>
          <a:xfrm>
            <a:off x="8321040" y="2377440"/>
            <a:ext cx="2834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Darker green = stronger positive correlation</a:t>
            </a:r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endParaRPr lang="en-US" sz="1200">
              <a:solidFill>
                <a:srgbClr val="2D2D2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is always 1.00 (variable with itself)</a:t>
            </a:r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endParaRPr lang="en-US" sz="1200">
              <a:solidFill>
                <a:srgbClr val="2D2D2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mkt_spend and revenue show r = 0.994</a:t>
            </a:r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endParaRPr lang="en-US" sz="1200">
              <a:solidFill>
                <a:srgbClr val="2D2D2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and leads also move closely together in this sample scenario</a:t>
            </a:r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endParaRPr lang="en-US" sz="1200">
              <a:solidFill>
                <a:srgbClr val="2D2D2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conv_rate is positive, but less tightly aligned than the traffic and lead variables</a:t>
            </a:r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endParaRPr lang="en-US" sz="1200">
              <a:solidFill>
                <a:srgbClr val="2D2D2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heatmaps to quickly spot which variables are related</a:t>
            </a:r>
            <a:endParaRPr lang="en-US" sz="12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4EE61821-DCF5-2230-59C2-910E3212A73E}"/>
              </a:ext>
            </a:extLst>
          </p:cNvPr>
          <p:cNvSpPr/>
          <p:nvPr/>
        </p:nvSpPr>
        <p:spPr>
          <a:xfrm>
            <a:off x="822960" y="5760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Scale:</a:t>
            </a:r>
            <a:endParaRPr lang="en-US" sz="1100" dirty="0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A637FEF1-A246-0ABF-19AC-06995B0C2801}"/>
              </a:ext>
            </a:extLst>
          </p:cNvPr>
          <p:cNvSpPr/>
          <p:nvPr/>
        </p:nvSpPr>
        <p:spPr>
          <a:xfrm>
            <a:off x="2011680" y="5806440"/>
            <a:ext cx="228600" cy="228600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43932E47-7C84-7B59-1933-AF72B516B124}"/>
              </a:ext>
            </a:extLst>
          </p:cNvPr>
          <p:cNvSpPr/>
          <p:nvPr/>
        </p:nvSpPr>
        <p:spPr>
          <a:xfrm>
            <a:off x="2331720" y="5760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0.9</a:t>
            </a:r>
            <a:endParaRPr lang="en-US" sz="110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8F12379F-21AF-F043-0B5B-77E780B8605A}"/>
              </a:ext>
            </a:extLst>
          </p:cNvPr>
          <p:cNvSpPr/>
          <p:nvPr/>
        </p:nvSpPr>
        <p:spPr>
          <a:xfrm>
            <a:off x="3657600" y="5806440"/>
            <a:ext cx="228600" cy="228600"/>
          </a:xfrm>
          <a:prstGeom prst="rect">
            <a:avLst/>
          </a:prstGeom>
          <a:solidFill>
            <a:srgbClr val="65A30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D0324AD3-F712-25B8-A361-4E7121831723}"/>
              </a:ext>
            </a:extLst>
          </p:cNvPr>
          <p:cNvSpPr/>
          <p:nvPr/>
        </p:nvSpPr>
        <p:spPr>
          <a:xfrm>
            <a:off x="3977640" y="5760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0.7-0.9</a:t>
            </a:r>
            <a:endParaRPr lang="en-US" sz="1100" dirty="0"/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4ACEB626-680A-8115-89C0-F8A232936549}"/>
              </a:ext>
            </a:extLst>
          </p:cNvPr>
          <p:cNvSpPr/>
          <p:nvPr/>
        </p:nvSpPr>
        <p:spPr>
          <a:xfrm>
            <a:off x="5303520" y="5806440"/>
            <a:ext cx="228600" cy="228600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E0B23993-99C2-35CC-A213-57AAD0703990}"/>
              </a:ext>
            </a:extLst>
          </p:cNvPr>
          <p:cNvSpPr/>
          <p:nvPr/>
        </p:nvSpPr>
        <p:spPr>
          <a:xfrm>
            <a:off x="5623560" y="5760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0.5-0.7</a:t>
            </a:r>
            <a:endParaRPr lang="en-US" sz="1100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24CF249F-5C3F-71FA-A0AB-C36B3DBFEBD1}"/>
              </a:ext>
            </a:extLst>
          </p:cNvPr>
          <p:cNvSpPr/>
          <p:nvPr/>
        </p:nvSpPr>
        <p:spPr>
          <a:xfrm>
            <a:off x="6949440" y="5806440"/>
            <a:ext cx="228600" cy="2286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4D70969F-4136-44AC-FF7F-1C9CBDB544FB}"/>
              </a:ext>
            </a:extLst>
          </p:cNvPr>
          <p:cNvSpPr/>
          <p:nvPr/>
        </p:nvSpPr>
        <p:spPr>
          <a:xfrm>
            <a:off x="7269480" y="5760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0.5</a:t>
            </a:r>
            <a:endParaRPr lang="en-US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E805C5-771C-852F-7050-FDE3617608DD}"/>
              </a:ext>
            </a:extLst>
          </p:cNvPr>
          <p:cNvSpPr/>
          <p:nvPr/>
        </p:nvSpPr>
        <p:spPr>
          <a:xfrm>
            <a:off x="6587836" y="2306782"/>
            <a:ext cx="1093124" cy="623454"/>
          </a:xfrm>
          <a:prstGeom prst="rect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4C89DC-EE2A-A9EA-565A-E3DC9F68B66E}"/>
              </a:ext>
            </a:extLst>
          </p:cNvPr>
          <p:cNvSpPr/>
          <p:nvPr/>
        </p:nvSpPr>
        <p:spPr>
          <a:xfrm>
            <a:off x="2182090" y="4862946"/>
            <a:ext cx="1093124" cy="623454"/>
          </a:xfrm>
          <a:prstGeom prst="rect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6139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5D389-9B20-BE84-51F3-7E788CA86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D7EB6-2BAE-3905-66BE-9410D35B3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dirty="0"/>
              <a:t>Correlation Code Demo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C238FA-1795-432E-BD8C-2894B38BB3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C2CB965B-B237-8971-7A05-4C062C23D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63040"/>
            <a:ext cx="365760" cy="365760"/>
          </a:xfrm>
          <a:prstGeom prst="rect">
            <a:avLst/>
          </a:prstGeom>
        </p:spPr>
      </p:pic>
      <p:sp>
        <p:nvSpPr>
          <p:cNvPr id="5" name="Text 5">
            <a:extLst>
              <a:ext uri="{FF2B5EF4-FFF2-40B4-BE49-F238E27FC236}">
                <a16:creationId xmlns:a16="http://schemas.microsoft.com/office/drawing/2014/main" id="{DACAED40-E2A2-110A-0275-77509CAAB3F1}"/>
              </a:ext>
            </a:extLst>
          </p:cNvPr>
          <p:cNvSpPr/>
          <p:nvPr/>
        </p:nvSpPr>
        <p:spPr>
          <a:xfrm>
            <a:off x="128016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regression-</a:t>
            </a:r>
            <a:r>
              <a:rPr lang="en-US" sz="15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demo.ipynb</a:t>
            </a:r>
            <a:endParaRPr lang="en-US" sz="1500" dirty="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D387B3DE-143C-95FB-2E98-2B779ACFD7D1}"/>
              </a:ext>
            </a:extLst>
          </p:cNvPr>
          <p:cNvSpPr/>
          <p:nvPr/>
        </p:nvSpPr>
        <p:spPr>
          <a:xfrm>
            <a:off x="822959" y="2103120"/>
            <a:ext cx="7390312" cy="3938451"/>
          </a:xfrm>
          <a:prstGeom prst="rect">
            <a:avLst/>
          </a:prstGeom>
          <a:solidFill>
            <a:srgbClr val="1E1E2E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BCA8BA8F-0EFB-E520-23E0-90C6FA00205D}"/>
              </a:ext>
            </a:extLst>
          </p:cNvPr>
          <p:cNvSpPr/>
          <p:nvPr/>
        </p:nvSpPr>
        <p:spPr>
          <a:xfrm>
            <a:off x="1097280" y="2103121"/>
            <a:ext cx="6818812" cy="3938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00"/>
              </a:lnSpc>
              <a:buNone/>
            </a:pPr>
            <a:r>
              <a:rPr lang="en-PH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x_mean</a:t>
            </a:r>
            <a:r>
              <a:rPr lang="en-PH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PH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PH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mean</a:t>
            </a:r>
            <a:r>
              <a:rPr lang="en-PH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800"/>
              </a:lnSpc>
              <a:buNone/>
            </a:pPr>
            <a:r>
              <a:rPr lang="en-PH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y_mean</a:t>
            </a:r>
            <a:r>
              <a:rPr lang="en-PH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PH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PH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mean</a:t>
            </a:r>
            <a:r>
              <a:rPr lang="en-PH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PH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PH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PH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numerator</a:t>
            </a:r>
            <a:r>
              <a:rPr lang="en-PH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l-G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Σ</a:t>
            </a:r>
            <a:r>
              <a:rPr lang="en-PH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PH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PH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PH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x_mean</a:t>
            </a:r>
            <a:r>
              <a:rPr lang="en-PH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PH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PH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PH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PH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PH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y_mean</a:t>
            </a:r>
            <a:r>
              <a:rPr lang="en-PH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800"/>
              </a:lnSpc>
              <a:buNone/>
            </a:pPr>
            <a:r>
              <a:rPr lang="en-PH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denominator</a:t>
            </a:r>
            <a:r>
              <a:rPr lang="en-PH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√(</a:t>
            </a:r>
            <a:r>
              <a:rPr lang="el-GR" sz="1600" dirty="0">
                <a:solidFill>
                  <a:srgbClr val="4EC9B0"/>
                </a:solidFill>
                <a:latin typeface="Consolas" panose="020B0609020204030204" pitchFamily="49" charset="0"/>
              </a:rPr>
              <a:t>Σ</a:t>
            </a:r>
            <a:r>
              <a:rPr lang="en-PH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PH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PH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PH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x_mean</a:t>
            </a:r>
            <a:r>
              <a:rPr lang="en-PH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PH" sz="1600" dirty="0">
                <a:solidFill>
                  <a:srgbClr val="D4D4D4"/>
                </a:solidFill>
                <a:latin typeface="Consolas" panose="020B0609020204030204" pitchFamily="49" charset="0"/>
              </a:rPr>
              <a:t>^</a:t>
            </a:r>
            <a:r>
              <a:rPr lang="en-PH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PH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PH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PH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l-GR" sz="1600" dirty="0">
                <a:solidFill>
                  <a:srgbClr val="4EC9B0"/>
                </a:solidFill>
                <a:latin typeface="Consolas" panose="020B0609020204030204" pitchFamily="49" charset="0"/>
              </a:rPr>
              <a:t>Σ</a:t>
            </a:r>
            <a:r>
              <a:rPr lang="en-PH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PH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PH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PH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PH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y_mean</a:t>
            </a:r>
            <a:r>
              <a:rPr lang="en-PH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PH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^</a:t>
            </a:r>
            <a:r>
              <a:rPr lang="en-PH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PH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800"/>
              </a:lnSpc>
              <a:buNone/>
            </a:pPr>
            <a:br>
              <a:rPr lang="en-PH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PH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pearson_r</a:t>
            </a:r>
            <a:r>
              <a:rPr lang="en-PH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=</a:t>
            </a:r>
            <a:r>
              <a:rPr lang="en-PH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numerator</a:t>
            </a:r>
            <a:r>
              <a:rPr lang="en-PH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PH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denominator</a:t>
            </a:r>
            <a:endParaRPr lang="en-PH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279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786A8-229C-481C-6FA9-1804D40E4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dirty="0"/>
              <a:t>What Is Regression?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675FA3-B671-3750-4D67-4645F30A73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A92ADB61-02BA-BE28-E363-CAD09397D47F}"/>
              </a:ext>
            </a:extLst>
          </p:cNvPr>
          <p:cNvSpPr/>
          <p:nvPr/>
        </p:nvSpPr>
        <p:spPr>
          <a:xfrm>
            <a:off x="655320" y="1051560"/>
            <a:ext cx="6400800" cy="4754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H"/>
          </a:p>
        </p:txBody>
      </p:sp>
      <p:pic>
        <p:nvPicPr>
          <p:cNvPr id="7" name="Image 0">
            <a:extLst>
              <a:ext uri="{FF2B5EF4-FFF2-40B4-BE49-F238E27FC236}">
                <a16:creationId xmlns:a16="http://schemas.microsoft.com/office/drawing/2014/main" id="{89343DD5-276D-6993-CF37-65DBD768D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" y="1325880"/>
            <a:ext cx="411480" cy="411480"/>
          </a:xfrm>
          <a:prstGeom prst="rect">
            <a:avLst/>
          </a:prstGeom>
        </p:spPr>
      </p:pic>
      <p:sp>
        <p:nvSpPr>
          <p:cNvPr id="8" name="Text 6">
            <a:extLst>
              <a:ext uri="{FF2B5EF4-FFF2-40B4-BE49-F238E27FC236}">
                <a16:creationId xmlns:a16="http://schemas.microsoft.com/office/drawing/2014/main" id="{9039A0EC-F25B-168E-9253-DE5A57A48953}"/>
              </a:ext>
            </a:extLst>
          </p:cNvPr>
          <p:cNvSpPr/>
          <p:nvPr/>
        </p:nvSpPr>
        <p:spPr>
          <a:xfrm>
            <a:off x="1569720" y="1325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Linear Regression</a:t>
            </a: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73DC893-44FF-9DB8-E1A4-EB75D98ADD5D}"/>
              </a:ext>
            </a:extLst>
          </p:cNvPr>
          <p:cNvSpPr/>
          <p:nvPr/>
        </p:nvSpPr>
        <p:spPr>
          <a:xfrm>
            <a:off x="1021080" y="2057400"/>
            <a:ext cx="5669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is a statistical method for modeling the relationship between variables.</a:t>
            </a:r>
          </a:p>
          <a:p>
            <a:pPr marL="0" indent="0">
              <a:lnSpc>
                <a:spcPct val="130000"/>
              </a:lnSpc>
              <a:buNone/>
            </a:pPr>
            <a:endParaRPr lang="en-US" dirty="0">
              <a:solidFill>
                <a:srgbClr val="2D2D2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linear regression, we predict one output from a single input using a straight line.</a:t>
            </a:r>
          </a:p>
          <a:p>
            <a:pPr marL="0" indent="0">
              <a:lnSpc>
                <a:spcPct val="130000"/>
              </a:lnSpc>
              <a:buNone/>
            </a:pPr>
            <a:endParaRPr lang="en-US" dirty="0">
              <a:solidFill>
                <a:srgbClr val="2D2D2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Example: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revenue from </a:t>
            </a:r>
            <a:r>
              <a:rPr lang="en-US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mkt_spend</a:t>
            </a:r>
            <a:endParaRPr lang="en-US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9FC5A50-6074-1D32-D86C-A23774CA7A8D}"/>
              </a:ext>
            </a:extLst>
          </p:cNvPr>
          <p:cNvSpPr/>
          <p:nvPr/>
        </p:nvSpPr>
        <p:spPr>
          <a:xfrm>
            <a:off x="7513320" y="1051560"/>
            <a:ext cx="4023360" cy="4754880"/>
          </a:xfrm>
          <a:prstGeom prst="rect">
            <a:avLst/>
          </a:prstGeom>
          <a:solidFill>
            <a:srgbClr val="1F1F1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H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C56959F-4927-6474-C36B-E9D7AAB55BB9}"/>
              </a:ext>
            </a:extLst>
          </p:cNvPr>
          <p:cNvSpPr/>
          <p:nvPr/>
        </p:nvSpPr>
        <p:spPr>
          <a:xfrm>
            <a:off x="778764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FEE2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Idea</a:t>
            </a:r>
            <a:endParaRPr lang="en-US" sz="15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A6283CF-C709-5B2C-7B77-797D915EFABD}"/>
              </a:ext>
            </a:extLst>
          </p:cNvPr>
          <p:cNvSpPr/>
          <p:nvPr/>
        </p:nvSpPr>
        <p:spPr>
          <a:xfrm>
            <a:off x="8061960" y="1965960"/>
            <a:ext cx="3200400" cy="731520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H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F357CC0-FAC6-ECD6-2CBA-2ED7C6631415}"/>
              </a:ext>
            </a:extLst>
          </p:cNvPr>
          <p:cNvSpPr/>
          <p:nvPr/>
        </p:nvSpPr>
        <p:spPr>
          <a:xfrm>
            <a:off x="8153400" y="2011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(X)</a:t>
            </a:r>
            <a:endParaRPr lang="en-US" sz="13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214DFB5-0910-FCC3-3ADE-37193A2E68D4}"/>
              </a:ext>
            </a:extLst>
          </p:cNvPr>
          <p:cNvSpPr/>
          <p:nvPr/>
        </p:nvSpPr>
        <p:spPr>
          <a:xfrm>
            <a:off x="8153400" y="2331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>
                <a:solidFill>
                  <a:srgbClr val="FEE2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mkt_spend</a:t>
            </a:r>
            <a:endParaRPr lang="en-US" sz="11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23B633B-068A-0E19-82CD-82C5A453A21C}"/>
              </a:ext>
            </a:extLst>
          </p:cNvPr>
          <p:cNvSpPr/>
          <p:nvPr/>
        </p:nvSpPr>
        <p:spPr>
          <a:xfrm>
            <a:off x="8061960" y="2971800"/>
            <a:ext cx="3200400" cy="731520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H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123685A-7952-AD57-3F2A-F31CF0B8766B}"/>
              </a:ext>
            </a:extLst>
          </p:cNvPr>
          <p:cNvSpPr/>
          <p:nvPr/>
        </p:nvSpPr>
        <p:spPr>
          <a:xfrm>
            <a:off x="8153400" y="3017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8EB212B-AB0B-2009-AC51-598BB6FDE1E4}"/>
              </a:ext>
            </a:extLst>
          </p:cNvPr>
          <p:cNvSpPr/>
          <p:nvPr/>
        </p:nvSpPr>
        <p:spPr>
          <a:xfrm>
            <a:off x="8153400" y="3337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FEE2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mx + b</a:t>
            </a:r>
            <a:endParaRPr lang="en-US" sz="11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9F270C3-8AE7-9FB3-B96A-AC0FD966E9AE}"/>
              </a:ext>
            </a:extLst>
          </p:cNvPr>
          <p:cNvSpPr/>
          <p:nvPr/>
        </p:nvSpPr>
        <p:spPr>
          <a:xfrm>
            <a:off x="8061960" y="3977640"/>
            <a:ext cx="3200400" cy="731520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H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9B3D4D6-DCE7-5352-DD5C-76879282A848}"/>
              </a:ext>
            </a:extLst>
          </p:cNvPr>
          <p:cNvSpPr/>
          <p:nvPr/>
        </p:nvSpPr>
        <p:spPr>
          <a:xfrm>
            <a:off x="8153400" y="4023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(Y)</a:t>
            </a:r>
            <a:endParaRPr lang="en-US" sz="13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8714D34-1F06-718F-64F6-1E385BDF39DC}"/>
              </a:ext>
            </a:extLst>
          </p:cNvPr>
          <p:cNvSpPr/>
          <p:nvPr/>
        </p:nvSpPr>
        <p:spPr>
          <a:xfrm>
            <a:off x="8153400" y="4343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>
                <a:solidFill>
                  <a:srgbClr val="FEE2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</a:t>
            </a:r>
            <a:endParaRPr lang="en-US" sz="1100" dirty="0"/>
          </a:p>
        </p:txBody>
      </p:sp>
      <p:pic>
        <p:nvPicPr>
          <p:cNvPr id="21" name="Image 1">
            <a:extLst>
              <a:ext uri="{FF2B5EF4-FFF2-40B4-BE49-F238E27FC236}">
                <a16:creationId xmlns:a16="http://schemas.microsoft.com/office/drawing/2014/main" id="{4C55FC44-828A-B86D-9A38-5ED0162F98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3560" y="2743200"/>
            <a:ext cx="228600" cy="228600"/>
          </a:xfrm>
          <a:prstGeom prst="rect">
            <a:avLst/>
          </a:prstGeom>
        </p:spPr>
      </p:pic>
      <p:pic>
        <p:nvPicPr>
          <p:cNvPr id="22" name="Image 2">
            <a:extLst>
              <a:ext uri="{FF2B5EF4-FFF2-40B4-BE49-F238E27FC236}">
                <a16:creationId xmlns:a16="http://schemas.microsoft.com/office/drawing/2014/main" id="{F92F3BBA-8272-3816-8B5E-F6D52DC57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3560" y="3749040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539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4CBAF-61D4-88AD-E562-B27BFC3B0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dirty="0"/>
              <a:t>Regression Problem Setup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D1972A-E7C4-4AE6-E5B0-24D9005F05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F8F5AE19-CB44-DD4F-0517-01173C701A1F}"/>
              </a:ext>
            </a:extLst>
          </p:cNvPr>
          <p:cNvSpPr/>
          <p:nvPr/>
        </p:nvSpPr>
        <p:spPr>
          <a:xfrm>
            <a:off x="822960" y="1645920"/>
            <a:ext cx="5029200" cy="4389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B1D08F4B-0BE4-B842-1FF8-225570E797B4}"/>
              </a:ext>
            </a:extLst>
          </p:cNvPr>
          <p:cNvSpPr/>
          <p:nvPr/>
        </p:nvSpPr>
        <p:spPr>
          <a:xfrm>
            <a:off x="822960" y="1645920"/>
            <a:ext cx="5029200" cy="54864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85016C0B-DFE1-AD4F-5DE1-41E578E14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011680"/>
            <a:ext cx="457200" cy="457200"/>
          </a:xfrm>
          <a:prstGeom prst="rect">
            <a:avLst/>
          </a:prstGeom>
        </p:spPr>
      </p:pic>
      <p:sp>
        <p:nvSpPr>
          <p:cNvPr id="7" name="Text 7">
            <a:extLst>
              <a:ext uri="{FF2B5EF4-FFF2-40B4-BE49-F238E27FC236}">
                <a16:creationId xmlns:a16="http://schemas.microsoft.com/office/drawing/2014/main" id="{A7A260BB-69B8-15FF-5D97-0B1B0A7E4609}"/>
              </a:ext>
            </a:extLst>
          </p:cNvPr>
          <p:cNvSpPr/>
          <p:nvPr/>
        </p:nvSpPr>
        <p:spPr>
          <a:xfrm>
            <a:off x="182880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Variable (X)</a:t>
            </a:r>
            <a:endParaRPr lang="en-US" sz="200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63972E46-AFBE-645F-CC24-FDE67220978E}"/>
              </a:ext>
            </a:extLst>
          </p:cNvPr>
          <p:cNvSpPr/>
          <p:nvPr/>
        </p:nvSpPr>
        <p:spPr>
          <a:xfrm>
            <a:off x="1188720" y="27432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mkt_spend</a:t>
            </a:r>
            <a:endParaRPr lang="en-US" sz="220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017CA8BE-86D0-DA55-D52D-D36C14CC4C53}"/>
              </a:ext>
            </a:extLst>
          </p:cNvPr>
          <p:cNvSpPr/>
          <p:nvPr/>
        </p:nvSpPr>
        <p:spPr>
          <a:xfrm>
            <a:off x="1188720" y="3474720"/>
            <a:ext cx="4297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the </a:t>
            </a:r>
            <a:r>
              <a:rPr lang="en-US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</a:t>
            </a:r>
            <a:r>
              <a:rPr lang="en-US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variable</a:t>
            </a:r>
            <a:r>
              <a:rPr lang="en-US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or </a:t>
            </a:r>
            <a:r>
              <a:rPr lang="en-US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r>
              <a:rPr lang="en-US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we use to make predictions.</a:t>
            </a:r>
            <a:endParaRPr lang="en-US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E25742EB-F0B1-5B2D-F288-6EC7B116EE2E}"/>
              </a:ext>
            </a:extLst>
          </p:cNvPr>
          <p:cNvSpPr/>
          <p:nvPr/>
        </p:nvSpPr>
        <p:spPr>
          <a:xfrm>
            <a:off x="6309360" y="1645920"/>
            <a:ext cx="5029200" cy="4389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3F1B5071-0404-E1AC-7241-1E25053FA617}"/>
              </a:ext>
            </a:extLst>
          </p:cNvPr>
          <p:cNvSpPr/>
          <p:nvPr/>
        </p:nvSpPr>
        <p:spPr>
          <a:xfrm>
            <a:off x="6309360" y="1645920"/>
            <a:ext cx="5029200" cy="5486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5C14579F-E1E7-964F-3B38-9C0FEBBABA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011680"/>
            <a:ext cx="457200" cy="457200"/>
          </a:xfrm>
          <a:prstGeom prst="rect">
            <a:avLst/>
          </a:prstGeom>
        </p:spPr>
      </p:pic>
      <p:sp>
        <p:nvSpPr>
          <p:cNvPr id="13" name="Text 12">
            <a:extLst>
              <a:ext uri="{FF2B5EF4-FFF2-40B4-BE49-F238E27FC236}">
                <a16:creationId xmlns:a16="http://schemas.microsoft.com/office/drawing/2014/main" id="{866E0672-694B-6086-1535-DBF4C74A28A1}"/>
              </a:ext>
            </a:extLst>
          </p:cNvPr>
          <p:cNvSpPr/>
          <p:nvPr/>
        </p:nvSpPr>
        <p:spPr>
          <a:xfrm>
            <a:off x="731520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Variable (Y)</a:t>
            </a:r>
            <a:endParaRPr lang="en-US" sz="20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C9DA9957-427B-1195-4C8E-F2BA8FE4059B}"/>
              </a:ext>
            </a:extLst>
          </p:cNvPr>
          <p:cNvSpPr/>
          <p:nvPr/>
        </p:nvSpPr>
        <p:spPr>
          <a:xfrm>
            <a:off x="6675120" y="27432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</a:t>
            </a:r>
            <a:endParaRPr lang="en-US" sz="22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7C223AA4-D9BA-38ED-B90F-6F38BC87F210}"/>
              </a:ext>
            </a:extLst>
          </p:cNvPr>
          <p:cNvSpPr/>
          <p:nvPr/>
        </p:nvSpPr>
        <p:spPr>
          <a:xfrm>
            <a:off x="6675120" y="3474720"/>
            <a:ext cx="4297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the </a:t>
            </a:r>
            <a:r>
              <a:rPr lang="en-US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r>
              <a:rPr lang="en-US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variable</a:t>
            </a:r>
            <a:r>
              <a:rPr lang="en-US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or </a:t>
            </a:r>
            <a:r>
              <a:rPr lang="en-US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r>
              <a:rPr lang="en-US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we want to predict.</a:t>
            </a:r>
            <a:endParaRPr lang="en-US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CEE60FE9-9E06-8972-473A-8EC02A51F72C}"/>
              </a:ext>
            </a:extLst>
          </p:cNvPr>
          <p:cNvSpPr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Understanding input vs. output is the foundation of every supervised learning problem.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82636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CD014-D412-D1A6-B0D8-3F12EB61D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dirty="0"/>
              <a:t>Regression Formula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AAA788-05FB-69FA-E57F-B333ECF146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58A5B632-BE6F-F1E2-94B5-4B04F9C00577}"/>
              </a:ext>
            </a:extLst>
          </p:cNvPr>
          <p:cNvSpPr/>
          <p:nvPr/>
        </p:nvSpPr>
        <p:spPr>
          <a:xfrm>
            <a:off x="1371600" y="1645920"/>
            <a:ext cx="9418320" cy="1645920"/>
          </a:xfrm>
          <a:prstGeom prst="rect">
            <a:avLst/>
          </a:prstGeom>
          <a:solidFill>
            <a:srgbClr val="1F1F1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41270E5F-D42C-2185-2C7A-DD88D69B4E83}"/>
              </a:ext>
            </a:extLst>
          </p:cNvPr>
          <p:cNvSpPr/>
          <p:nvPr/>
        </p:nvSpPr>
        <p:spPr>
          <a:xfrm>
            <a:off x="1371600" y="1645920"/>
            <a:ext cx="9418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 =  m · x  +  b</a:t>
            </a:r>
            <a:endParaRPr lang="en-US" sz="4800" dirty="0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FF880474-BD46-C7C1-3C7E-6B74E98F68D5}"/>
              </a:ext>
            </a:extLst>
          </p:cNvPr>
          <p:cNvSpPr/>
          <p:nvPr/>
        </p:nvSpPr>
        <p:spPr>
          <a:xfrm>
            <a:off x="822960" y="3749040"/>
            <a:ext cx="31089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359BE2DC-3707-F7AF-B381-FEC33E5EA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023360"/>
            <a:ext cx="365760" cy="365760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82EB4309-D55C-0E6D-3877-F00436C1EDC2}"/>
              </a:ext>
            </a:extLst>
          </p:cNvPr>
          <p:cNvSpPr/>
          <p:nvPr/>
        </p:nvSpPr>
        <p:spPr>
          <a:xfrm>
            <a:off x="1600200" y="4023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 (Slope)</a:t>
            </a:r>
            <a:endParaRPr lang="en-US" sz="160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973E5580-C917-3D55-E175-62ADCA1714E7}"/>
              </a:ext>
            </a:extLst>
          </p:cNvPr>
          <p:cNvSpPr/>
          <p:nvPr/>
        </p:nvSpPr>
        <p:spPr>
          <a:xfrm>
            <a:off x="1097280" y="46634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Y changes for each unit increase in X. A slope of 5.32 means about $5.32 more revenue per $1 of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mkt_spend</a:t>
            </a: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E5F65A26-FE9D-0DAB-B8C9-EE58709662EE}"/>
              </a:ext>
            </a:extLst>
          </p:cNvPr>
          <p:cNvSpPr/>
          <p:nvPr/>
        </p:nvSpPr>
        <p:spPr>
          <a:xfrm>
            <a:off x="4160520" y="3749040"/>
            <a:ext cx="31089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E55878D3-3A67-7863-E1AB-FC4FBAF5AE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4023360"/>
            <a:ext cx="365760" cy="365760"/>
          </a:xfrm>
          <a:prstGeom prst="rect">
            <a:avLst/>
          </a:prstGeom>
        </p:spPr>
      </p:pic>
      <p:sp>
        <p:nvSpPr>
          <p:cNvPr id="12" name="Text 11">
            <a:extLst>
              <a:ext uri="{FF2B5EF4-FFF2-40B4-BE49-F238E27FC236}">
                <a16:creationId xmlns:a16="http://schemas.microsoft.com/office/drawing/2014/main" id="{3B2882AE-388D-F7BB-E41B-8C70CA2E7D7F}"/>
              </a:ext>
            </a:extLst>
          </p:cNvPr>
          <p:cNvSpPr/>
          <p:nvPr/>
        </p:nvSpPr>
        <p:spPr>
          <a:xfrm>
            <a:off x="4937760" y="4023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(Intercept)</a:t>
            </a:r>
            <a:endParaRPr lang="en-US" sz="16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61184651-2A3F-18E5-438A-CFAAE1252EF1}"/>
              </a:ext>
            </a:extLst>
          </p:cNvPr>
          <p:cNvSpPr/>
          <p:nvPr/>
        </p:nvSpPr>
        <p:spPr>
          <a:xfrm>
            <a:off x="4434840" y="46634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predicted value of Y when X is zero. The baseline revenue if mkt_spend were zero.</a:t>
            </a:r>
            <a:endParaRPr lang="en-US" sz="1600" dirty="0"/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15973481-5B5F-1121-99C3-8D26B5BEE5DE}"/>
              </a:ext>
            </a:extLst>
          </p:cNvPr>
          <p:cNvSpPr/>
          <p:nvPr/>
        </p:nvSpPr>
        <p:spPr>
          <a:xfrm>
            <a:off x="7498080" y="3749040"/>
            <a:ext cx="31089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662213CB-FA4E-7D5B-799C-B86066B1F3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4023360"/>
            <a:ext cx="365760" cy="365760"/>
          </a:xfrm>
          <a:prstGeom prst="rect">
            <a:avLst/>
          </a:prstGeom>
        </p:spPr>
      </p:pic>
      <p:sp>
        <p:nvSpPr>
          <p:cNvPr id="16" name="Text 14">
            <a:extLst>
              <a:ext uri="{FF2B5EF4-FFF2-40B4-BE49-F238E27FC236}">
                <a16:creationId xmlns:a16="http://schemas.microsoft.com/office/drawing/2014/main" id="{D8217423-EE25-4EBA-19EB-4C551D80C1FB}"/>
              </a:ext>
            </a:extLst>
          </p:cNvPr>
          <p:cNvSpPr/>
          <p:nvPr/>
        </p:nvSpPr>
        <p:spPr>
          <a:xfrm>
            <a:off x="8275320" y="4023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Best-Fit Line</a:t>
            </a:r>
            <a:endParaRPr lang="en-US" sz="1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35EAE15-60D1-B361-45A5-E7182F1AF493}"/>
              </a:ext>
            </a:extLst>
          </p:cNvPr>
          <p:cNvSpPr/>
          <p:nvPr/>
        </p:nvSpPr>
        <p:spPr>
          <a:xfrm>
            <a:off x="7772400" y="46634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finds the line that minimizes the total squared error between predicted and actual values.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26547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03880-9BED-BD64-AB58-E84612A64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dirty="0"/>
              <a:t>Regression vs Correlation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B9F712-1DBD-9A8E-3681-AD47E0A0FA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A795865E-56EC-CD2D-A5E6-29E156C3BB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487985"/>
              </p:ext>
            </p:extLst>
          </p:nvPr>
        </p:nvGraphicFramePr>
        <p:xfrm>
          <a:off x="838200" y="1494322"/>
          <a:ext cx="10515600" cy="41148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 outcomes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 association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equation (y = mx + b)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single number (r)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predicts Y (directional)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Symmetric (X↔Y)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Forecasting, estimation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Exploring relationships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 revenue from spend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strongly are spend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 revenue related?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5">
            <a:extLst>
              <a:ext uri="{FF2B5EF4-FFF2-40B4-BE49-F238E27FC236}">
                <a16:creationId xmlns:a16="http://schemas.microsoft.com/office/drawing/2014/main" id="{700494E7-2F17-1532-0B7A-D09C3B80607F}"/>
              </a:ext>
            </a:extLst>
          </p:cNvPr>
          <p:cNvSpPr/>
          <p:nvPr/>
        </p:nvSpPr>
        <p:spPr>
          <a:xfrm>
            <a:off x="838200" y="5792002"/>
            <a:ext cx="10515600" cy="54864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F2BAF19C-7446-5478-6038-C557D14E7629}"/>
              </a:ext>
            </a:extLst>
          </p:cNvPr>
          <p:cNvSpPr/>
          <p:nvPr/>
        </p:nvSpPr>
        <p:spPr>
          <a:xfrm>
            <a:off x="1112520" y="579200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Regression goes further than correlation by giving us a predictive model, not just a measure of association.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562756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590EF-0A15-24E1-2062-07BAD838B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dirty="0"/>
              <a:t>Predictions and Residuals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DF7513-F782-A184-F35A-0641D4C6A7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C682D29F-17EF-94BE-4F8D-CE4F9A1CD974}"/>
              </a:ext>
            </a:extLst>
          </p:cNvPr>
          <p:cNvSpPr/>
          <p:nvPr/>
        </p:nvSpPr>
        <p:spPr>
          <a:xfrm>
            <a:off x="838200" y="1425762"/>
            <a:ext cx="10515600" cy="8229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B2055ABC-56D2-60B6-4BA2-DD035195D0D3}"/>
              </a:ext>
            </a:extLst>
          </p:cNvPr>
          <p:cNvSpPr/>
          <p:nvPr/>
        </p:nvSpPr>
        <p:spPr>
          <a:xfrm>
            <a:off x="838200" y="142576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Residual  =  Actual Value  −  Predicted Value</a:t>
            </a:r>
            <a:endParaRPr lang="en-US" sz="2800" dirty="0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E620FD80-1F28-C404-698D-E086DEC17E77}"/>
              </a:ext>
            </a:extLst>
          </p:cNvPr>
          <p:cNvSpPr/>
          <p:nvPr/>
        </p:nvSpPr>
        <p:spPr>
          <a:xfrm>
            <a:off x="838200" y="2614482"/>
            <a:ext cx="3383280" cy="1828800"/>
          </a:xfrm>
          <a:prstGeom prst="rect">
            <a:avLst/>
          </a:prstGeom>
          <a:solidFill>
            <a:srgbClr val="1F1F1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6BF67D32-55A6-E73C-D4E9-6B867D875BDE}"/>
              </a:ext>
            </a:extLst>
          </p:cNvPr>
          <p:cNvSpPr/>
          <p:nvPr/>
        </p:nvSpPr>
        <p:spPr>
          <a:xfrm>
            <a:off x="1112520" y="279736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Predicted Value (ŷ)</a:t>
            </a:r>
            <a:endParaRPr lang="en-US" dirty="0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08C426A5-B45E-211F-1E6E-5DF12D8A8EE2}"/>
              </a:ext>
            </a:extLst>
          </p:cNvPr>
          <p:cNvSpPr/>
          <p:nvPr/>
        </p:nvSpPr>
        <p:spPr>
          <a:xfrm>
            <a:off x="1112520" y="3346002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the model calculates using the regression line for a given X</a:t>
            </a:r>
            <a:endParaRPr lang="en-US" sz="1600" dirty="0"/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9261596B-4C57-3BA9-3510-0997116FAF12}"/>
              </a:ext>
            </a:extLst>
          </p:cNvPr>
          <p:cNvSpPr/>
          <p:nvPr/>
        </p:nvSpPr>
        <p:spPr>
          <a:xfrm>
            <a:off x="4495800" y="2614482"/>
            <a:ext cx="33832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9C1FBCA3-BB35-0421-C579-E88EC42F696A}"/>
              </a:ext>
            </a:extLst>
          </p:cNvPr>
          <p:cNvSpPr/>
          <p:nvPr/>
        </p:nvSpPr>
        <p:spPr>
          <a:xfrm>
            <a:off x="4770120" y="279736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Actual Value (y)</a:t>
            </a:r>
            <a:endParaRPr lang="en-US" dirty="0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7028DF3A-1588-D19A-ABD1-96C70F36440D}"/>
              </a:ext>
            </a:extLst>
          </p:cNvPr>
          <p:cNvSpPr/>
          <p:nvPr/>
        </p:nvSpPr>
        <p:spPr>
          <a:xfrm>
            <a:off x="4770120" y="3346002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observed value from the dataset that we compare against</a:t>
            </a:r>
            <a:endParaRPr lang="en-US" sz="1600" dirty="0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E0F92104-9561-348A-E313-A3EC5B62B857}"/>
              </a:ext>
            </a:extLst>
          </p:cNvPr>
          <p:cNvSpPr/>
          <p:nvPr/>
        </p:nvSpPr>
        <p:spPr>
          <a:xfrm>
            <a:off x="8153400" y="2614482"/>
            <a:ext cx="3383280" cy="1828800"/>
          </a:xfrm>
          <a:prstGeom prst="rect">
            <a:avLst/>
          </a:prstGeom>
          <a:solidFill>
            <a:srgbClr val="B91C1C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75AA4067-C38C-337B-C8EC-ADEAA74A7044}"/>
              </a:ext>
            </a:extLst>
          </p:cNvPr>
          <p:cNvSpPr/>
          <p:nvPr/>
        </p:nvSpPr>
        <p:spPr>
          <a:xfrm>
            <a:off x="8427720" y="279736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Residual (e)</a:t>
            </a:r>
            <a:endParaRPr lang="en-US" dirty="0"/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0061B7D3-5BE4-03B9-B07A-EBB81BA815FC}"/>
              </a:ext>
            </a:extLst>
          </p:cNvPr>
          <p:cNvSpPr/>
          <p:nvPr/>
        </p:nvSpPr>
        <p:spPr>
          <a:xfrm>
            <a:off x="8427720" y="3346002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actual and predicted. Smaller residuals = better model fit</a:t>
            </a:r>
            <a:endParaRPr lang="en-US" sz="1600" dirty="0"/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747F36DA-67F6-D973-06E5-BFAA7A543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809042"/>
            <a:ext cx="365760" cy="365760"/>
          </a:xfrm>
          <a:prstGeom prst="rect">
            <a:avLst/>
          </a:prstGeom>
        </p:spPr>
      </p:pic>
      <p:sp>
        <p:nvSpPr>
          <p:cNvPr id="16" name="Text 16">
            <a:extLst>
              <a:ext uri="{FF2B5EF4-FFF2-40B4-BE49-F238E27FC236}">
                <a16:creationId xmlns:a16="http://schemas.microsoft.com/office/drawing/2014/main" id="{56580370-F55E-E061-4A44-C06E36314C6E}"/>
              </a:ext>
            </a:extLst>
          </p:cNvPr>
          <p:cNvSpPr/>
          <p:nvPr/>
        </p:nvSpPr>
        <p:spPr>
          <a:xfrm>
            <a:off x="1295400" y="480904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Residuals Matter</a:t>
            </a:r>
            <a:endParaRPr lang="en-US" sz="1600" dirty="0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6113D37D-FF38-63FD-E530-E60426C2B46A}"/>
              </a:ext>
            </a:extLst>
          </p:cNvPr>
          <p:cNvSpPr/>
          <p:nvPr/>
        </p:nvSpPr>
        <p:spPr>
          <a:xfrm>
            <a:off x="1021080" y="5266242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reveal patterns the model misses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residuals suggest a good fit; patterns suggest the model needs improvement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the basis for calculating R-squared and RMSE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75424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5B2C0-D19F-B726-AEC5-BCFB3C3A9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dirty="0"/>
              <a:t>Regression Plot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D1F033-8FDA-EFEF-6B25-4498D27B42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4" name="Chart 0">
            <a:extLst>
              <a:ext uri="{FF2B5EF4-FFF2-40B4-BE49-F238E27FC236}">
                <a16:creationId xmlns:a16="http://schemas.microsoft.com/office/drawing/2014/main" id="{EA75B270-2700-7F11-EB57-86D8A68D2D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5548874"/>
              </p:ext>
            </p:extLst>
          </p:nvPr>
        </p:nvGraphicFramePr>
        <p:xfrm>
          <a:off x="822960" y="1463040"/>
          <a:ext cx="685800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5">
            <a:extLst>
              <a:ext uri="{FF2B5EF4-FFF2-40B4-BE49-F238E27FC236}">
                <a16:creationId xmlns:a16="http://schemas.microsoft.com/office/drawing/2014/main" id="{FCA0C8B7-8CA4-0380-0CAD-29B5158A5FD6}"/>
              </a:ext>
            </a:extLst>
          </p:cNvPr>
          <p:cNvSpPr/>
          <p:nvPr/>
        </p:nvSpPr>
        <p:spPr>
          <a:xfrm>
            <a:off x="8046720" y="1463040"/>
            <a:ext cx="3383280" cy="4846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3B451252-C171-97F0-4BE4-A7743CC4D4E5}"/>
              </a:ext>
            </a:extLst>
          </p:cNvPr>
          <p:cNvSpPr/>
          <p:nvPr/>
        </p:nvSpPr>
        <p:spPr>
          <a:xfrm>
            <a:off x="8321040" y="1691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Read It</a:t>
            </a:r>
            <a:endParaRPr lang="en-US" sz="16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F3C00289-C5E0-934A-D540-8FDCFCF22540}"/>
              </a:ext>
            </a:extLst>
          </p:cNvPr>
          <p:cNvSpPr/>
          <p:nvPr/>
        </p:nvSpPr>
        <p:spPr>
          <a:xfrm>
            <a:off x="8321040" y="2194560"/>
            <a:ext cx="2834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uses actual revenue from regression-results.csv</a:t>
            </a:r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endParaRPr lang="en-US" sz="1200">
              <a:solidFill>
                <a:srgbClr val="2D2D2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uses the predictions column from the same file</a:t>
            </a:r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endParaRPr lang="en-US" sz="1200">
              <a:solidFill>
                <a:srgbClr val="2D2D2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close to the line = small residuals (good fit)</a:t>
            </a:r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endParaRPr lang="en-US" sz="1200">
              <a:solidFill>
                <a:srgbClr val="2D2D2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far from the line deserve investigation</a:t>
            </a:r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endParaRPr lang="en-US" sz="1200">
              <a:solidFill>
                <a:srgbClr val="2D2D2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upward trend supports using regression for prediction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60770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485EB-B8BA-005F-AD53-EB5F705EF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dirty="0"/>
              <a:t>R-squared (R²)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9C9110-254E-BD3B-B54F-B9715641BA2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2EED67BF-C9FD-1951-7F20-2DE0C0B546FD}"/>
              </a:ext>
            </a:extLst>
          </p:cNvPr>
          <p:cNvSpPr/>
          <p:nvPr/>
        </p:nvSpPr>
        <p:spPr>
          <a:xfrm>
            <a:off x="822960" y="1463040"/>
            <a:ext cx="10515600" cy="8229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481F3621-4E64-A42B-9FA0-C101688FD2EA}"/>
              </a:ext>
            </a:extLst>
          </p:cNvPr>
          <p:cNvSpPr/>
          <p:nvPr/>
        </p:nvSpPr>
        <p:spPr>
          <a:xfrm>
            <a:off x="822960" y="1463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R²  =  1  −  (SSE / SST)</a:t>
            </a:r>
            <a:endParaRPr lang="en-US" sz="2800" dirty="0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F44062E9-2F0A-17DA-8BF2-6790B5BE0789}"/>
              </a:ext>
            </a:extLst>
          </p:cNvPr>
          <p:cNvSpPr/>
          <p:nvPr/>
        </p:nvSpPr>
        <p:spPr>
          <a:xfrm>
            <a:off x="822960" y="2651760"/>
            <a:ext cx="54864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11ED5514-8719-4090-09A4-0873B92000A7}"/>
              </a:ext>
            </a:extLst>
          </p:cNvPr>
          <p:cNvSpPr/>
          <p:nvPr/>
        </p:nvSpPr>
        <p:spPr>
          <a:xfrm>
            <a:off x="1097280" y="2834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Means</a:t>
            </a:r>
            <a:endParaRPr lang="en-US" sz="2400" dirty="0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4F7A37ED-BDB4-CE10-8DA1-FB225EB53C96}"/>
              </a:ext>
            </a:extLst>
          </p:cNvPr>
          <p:cNvSpPr/>
          <p:nvPr/>
        </p:nvSpPr>
        <p:spPr>
          <a:xfrm>
            <a:off x="1097280" y="329184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0.987 means the model explains 98.7% of the variation in revenue. It is often discussed with error metrics, but technically it measures fit rather than direct error size.</a:t>
            </a:r>
            <a:endParaRPr lang="en-US" dirty="0"/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025C1551-D43A-8562-3411-0C646C0D7BB7}"/>
              </a:ext>
            </a:extLst>
          </p:cNvPr>
          <p:cNvSpPr/>
          <p:nvPr/>
        </p:nvSpPr>
        <p:spPr>
          <a:xfrm>
            <a:off x="6675120" y="2651760"/>
            <a:ext cx="466344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C4C60DF3-6E9E-12D9-FF0E-6CEEB7A539A6}"/>
              </a:ext>
            </a:extLst>
          </p:cNvPr>
          <p:cNvSpPr/>
          <p:nvPr/>
        </p:nvSpPr>
        <p:spPr>
          <a:xfrm>
            <a:off x="6949440" y="2834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2400" dirty="0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15E1D192-AFA2-99F9-2AA3-940D08BA4214}"/>
              </a:ext>
            </a:extLst>
          </p:cNvPr>
          <p:cNvSpPr/>
          <p:nvPr/>
        </p:nvSpPr>
        <p:spPr>
          <a:xfrm>
            <a:off x="7132320" y="3383280"/>
            <a:ext cx="274320" cy="411480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0E185FC0-8372-9AE7-1113-28B07BB0D264}"/>
              </a:ext>
            </a:extLst>
          </p:cNvPr>
          <p:cNvSpPr/>
          <p:nvPr/>
        </p:nvSpPr>
        <p:spPr>
          <a:xfrm>
            <a:off x="7589520" y="3383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0.90 - 1.00</a:t>
            </a:r>
            <a:endParaRPr lang="en-US" sz="1400" dirty="0"/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39DE5B39-2008-BEDA-47D7-F88525B8F24D}"/>
              </a:ext>
            </a:extLst>
          </p:cNvPr>
          <p:cNvSpPr/>
          <p:nvPr/>
        </p:nvSpPr>
        <p:spPr>
          <a:xfrm>
            <a:off x="9326880" y="3383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fit</a:t>
            </a:r>
            <a:endParaRPr lang="en-US" sz="1300" dirty="0"/>
          </a:p>
        </p:txBody>
      </p:sp>
      <p:sp>
        <p:nvSpPr>
          <p:cNvPr id="14" name="Shape 15">
            <a:extLst>
              <a:ext uri="{FF2B5EF4-FFF2-40B4-BE49-F238E27FC236}">
                <a16:creationId xmlns:a16="http://schemas.microsoft.com/office/drawing/2014/main" id="{BAD1802F-642C-CDF9-C9CD-A03F10985228}"/>
              </a:ext>
            </a:extLst>
          </p:cNvPr>
          <p:cNvSpPr/>
          <p:nvPr/>
        </p:nvSpPr>
        <p:spPr>
          <a:xfrm>
            <a:off x="7132320" y="4023360"/>
            <a:ext cx="274320" cy="411480"/>
          </a:xfrm>
          <a:prstGeom prst="rect">
            <a:avLst/>
          </a:prstGeom>
          <a:solidFill>
            <a:srgbClr val="65A30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1D09CE3E-383D-8536-E9BD-6BF00A14563E}"/>
              </a:ext>
            </a:extLst>
          </p:cNvPr>
          <p:cNvSpPr/>
          <p:nvPr/>
        </p:nvSpPr>
        <p:spPr>
          <a:xfrm>
            <a:off x="7589520" y="4023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0.70 - 0.89</a:t>
            </a:r>
            <a:endParaRPr lang="en-US" sz="1400" dirty="0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52B7BD90-3164-E737-46B7-2D4B84922B3C}"/>
              </a:ext>
            </a:extLst>
          </p:cNvPr>
          <p:cNvSpPr/>
          <p:nvPr/>
        </p:nvSpPr>
        <p:spPr>
          <a:xfrm>
            <a:off x="9326880" y="4023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fit</a:t>
            </a:r>
            <a:endParaRPr lang="en-US" sz="1300" dirty="0"/>
          </a:p>
        </p:txBody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9C8EBAA7-1B68-492D-EE4E-3095F6ED53DB}"/>
              </a:ext>
            </a:extLst>
          </p:cNvPr>
          <p:cNvSpPr/>
          <p:nvPr/>
        </p:nvSpPr>
        <p:spPr>
          <a:xfrm>
            <a:off x="7132320" y="4663440"/>
            <a:ext cx="274320" cy="411480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8B2EF9B4-CA23-4853-48A3-0A000122338D}"/>
              </a:ext>
            </a:extLst>
          </p:cNvPr>
          <p:cNvSpPr/>
          <p:nvPr/>
        </p:nvSpPr>
        <p:spPr>
          <a:xfrm>
            <a:off x="7589520" y="4663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0.40 - 0.69</a:t>
            </a:r>
            <a:endParaRPr lang="en-US" sz="1400" dirty="0"/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F3086D0D-2DCC-73A6-3B7F-B93062DB779C}"/>
              </a:ext>
            </a:extLst>
          </p:cNvPr>
          <p:cNvSpPr/>
          <p:nvPr/>
        </p:nvSpPr>
        <p:spPr>
          <a:xfrm>
            <a:off x="9326880" y="4663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fit</a:t>
            </a:r>
            <a:endParaRPr lang="en-US" sz="1300" dirty="0"/>
          </a:p>
        </p:txBody>
      </p:sp>
      <p:sp>
        <p:nvSpPr>
          <p:cNvPr id="20" name="Shape 21">
            <a:extLst>
              <a:ext uri="{FF2B5EF4-FFF2-40B4-BE49-F238E27FC236}">
                <a16:creationId xmlns:a16="http://schemas.microsoft.com/office/drawing/2014/main" id="{CF82B69E-6BC6-EBD1-70B1-DB01495006F8}"/>
              </a:ext>
            </a:extLst>
          </p:cNvPr>
          <p:cNvSpPr/>
          <p:nvPr/>
        </p:nvSpPr>
        <p:spPr>
          <a:xfrm>
            <a:off x="7132320" y="5303520"/>
            <a:ext cx="274320" cy="411480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E33C3C39-910F-30DF-8883-5650AE11574F}"/>
              </a:ext>
            </a:extLst>
          </p:cNvPr>
          <p:cNvSpPr/>
          <p:nvPr/>
        </p:nvSpPr>
        <p:spPr>
          <a:xfrm>
            <a:off x="7589520" y="5303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0.00 - 0.39</a:t>
            </a:r>
            <a:endParaRPr lang="en-US" sz="1400" dirty="0"/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561756C6-6DA6-E3C6-48F7-4B64182E1689}"/>
              </a:ext>
            </a:extLst>
          </p:cNvPr>
          <p:cNvSpPr/>
          <p:nvPr/>
        </p:nvSpPr>
        <p:spPr>
          <a:xfrm>
            <a:off x="9326880" y="5303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fit</a:t>
            </a:r>
            <a:endParaRPr lang="en-US" sz="1300" dirty="0"/>
          </a:p>
        </p:txBody>
      </p:sp>
      <p:sp>
        <p:nvSpPr>
          <p:cNvPr id="23" name="Text 24">
            <a:extLst>
              <a:ext uri="{FF2B5EF4-FFF2-40B4-BE49-F238E27FC236}">
                <a16:creationId xmlns:a16="http://schemas.microsoft.com/office/drawing/2014/main" id="{75CE8EE0-41DC-C53E-3BBA-F63D163626AE}"/>
              </a:ext>
            </a:extLst>
          </p:cNvPr>
          <p:cNvSpPr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 metric for explained variation</a:t>
            </a:r>
            <a:endParaRPr lang="en-US" sz="1100" dirty="0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F6337889-FD87-4C45-3C30-47B7F49E1D13}"/>
              </a:ext>
            </a:extLst>
          </p:cNvPr>
          <p:cNvSpPr/>
          <p:nvPr/>
        </p:nvSpPr>
        <p:spPr>
          <a:xfrm>
            <a:off x="853440" y="109701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 metric for explained variation. Also known as the Coefficient of Determination</a:t>
            </a:r>
            <a:endParaRPr lang="en-US" sz="13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8234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E7BF5-3945-4058-88A6-6AD1BF8D3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Root Mean Squared Error (RMSE)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A9EC44-C67A-1AA4-13BD-FA42451F5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2FDDD82-04EC-78D8-3327-0374F2AC0800}"/>
              </a:ext>
            </a:extLst>
          </p:cNvPr>
          <p:cNvSpPr/>
          <p:nvPr/>
        </p:nvSpPr>
        <p:spPr>
          <a:xfrm>
            <a:off x="853440" y="109701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error metric in revenue units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0E8B1F07-6FDD-84DD-1C8D-15F81DFB0F06}"/>
              </a:ext>
            </a:extLst>
          </p:cNvPr>
          <p:cNvSpPr/>
          <p:nvPr/>
        </p:nvSpPr>
        <p:spPr>
          <a:xfrm>
            <a:off x="822960" y="1463040"/>
            <a:ext cx="10515600" cy="8229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37F6AE24-1611-4572-F289-2076AB3C61F1}"/>
              </a:ext>
            </a:extLst>
          </p:cNvPr>
          <p:cNvSpPr/>
          <p:nvPr/>
        </p:nvSpPr>
        <p:spPr>
          <a:xfrm>
            <a:off x="822960" y="1463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RMSE  =  √( Σ(yᵢ − ŷᵢ)² / n )</a:t>
            </a:r>
            <a:endParaRPr lang="en-US" sz="2800" dirty="0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2E672D45-04C2-343B-F20A-DA7C7C678E1D}"/>
              </a:ext>
            </a:extLst>
          </p:cNvPr>
          <p:cNvSpPr/>
          <p:nvPr/>
        </p:nvSpPr>
        <p:spPr>
          <a:xfrm>
            <a:off x="822960" y="2651760"/>
            <a:ext cx="68580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25F19008-48D2-F670-9EE9-16D4940C6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880360"/>
            <a:ext cx="365760" cy="365760"/>
          </a:xfrm>
          <a:prstGeom prst="rect">
            <a:avLst/>
          </a:prstGeom>
        </p:spPr>
      </p:pic>
      <p:sp>
        <p:nvSpPr>
          <p:cNvPr id="9" name="Text 8">
            <a:extLst>
              <a:ext uri="{FF2B5EF4-FFF2-40B4-BE49-F238E27FC236}">
                <a16:creationId xmlns:a16="http://schemas.microsoft.com/office/drawing/2014/main" id="{5B3E2B7F-08B1-3CA4-26B0-1B45C968C2E6}"/>
              </a:ext>
            </a:extLst>
          </p:cNvPr>
          <p:cNvSpPr/>
          <p:nvPr/>
        </p:nvSpPr>
        <p:spPr>
          <a:xfrm>
            <a:off x="160020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Root Mean Squared Error</a:t>
            </a:r>
            <a:endParaRPr lang="en-US" sz="24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0F89EB2-1248-BB54-A274-C36CBA67B294}"/>
              </a:ext>
            </a:extLst>
          </p:cNvPr>
          <p:cNvSpPr/>
          <p:nvPr/>
        </p:nvSpPr>
        <p:spPr>
          <a:xfrm>
            <a:off x="1097280" y="3383280"/>
            <a:ext cx="6217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RMSE of $2,874 means our model's predictions are typically off by about $2,874 in revenue.</a:t>
            </a:r>
            <a:endParaRPr lang="en-US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0BE7DE48-1C3C-03F1-8FC8-F9BA7E633770}"/>
              </a:ext>
            </a:extLst>
          </p:cNvPr>
          <p:cNvSpPr/>
          <p:nvPr/>
        </p:nvSpPr>
        <p:spPr>
          <a:xfrm>
            <a:off x="8046720" y="2651760"/>
            <a:ext cx="3291840" cy="3657600"/>
          </a:xfrm>
          <a:prstGeom prst="rect">
            <a:avLst/>
          </a:prstGeom>
          <a:solidFill>
            <a:srgbClr val="1F1F1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A8192F11-B381-CFC5-1FE6-09347FABC18F}"/>
              </a:ext>
            </a:extLst>
          </p:cNvPr>
          <p:cNvSpPr/>
          <p:nvPr/>
        </p:nvSpPr>
        <p:spPr>
          <a:xfrm>
            <a:off x="832104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EE2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</a:t>
            </a:r>
            <a:endParaRPr lang="en-US" sz="20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0C225EF1-8266-537D-87CB-B9606FBCD3A3}"/>
              </a:ext>
            </a:extLst>
          </p:cNvPr>
          <p:cNvSpPr/>
          <p:nvPr/>
        </p:nvSpPr>
        <p:spPr>
          <a:xfrm>
            <a:off x="8321040" y="347472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tells you how well the model fits. RMSE tells you how large prediction errors are. Use both together.</a:t>
            </a:r>
            <a:endParaRPr lang="en-US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D72FA1A0-2897-EC44-6BFF-AC3232BD1F29}"/>
              </a:ext>
            </a:extLst>
          </p:cNvPr>
          <p:cNvSpPr/>
          <p:nvPr/>
        </p:nvSpPr>
        <p:spPr>
          <a:xfrm>
            <a:off x="8321040" y="5669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24871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836CE-C3BA-1F45-ECAA-25E1EEBEF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dirty="0"/>
              <a:t>Regression Code Demo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11B4CA-0387-780E-A4A8-5B592715F6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954A2C28-663C-2DD6-0112-98C61477F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63040"/>
            <a:ext cx="365760" cy="365760"/>
          </a:xfrm>
          <a:prstGeom prst="rect">
            <a:avLst/>
          </a:prstGeom>
        </p:spPr>
      </p:pic>
      <p:sp>
        <p:nvSpPr>
          <p:cNvPr id="5" name="Text 5">
            <a:extLst>
              <a:ext uri="{FF2B5EF4-FFF2-40B4-BE49-F238E27FC236}">
                <a16:creationId xmlns:a16="http://schemas.microsoft.com/office/drawing/2014/main" id="{31FBD043-A169-6858-1C48-22FB95844C6A}"/>
              </a:ext>
            </a:extLst>
          </p:cNvPr>
          <p:cNvSpPr/>
          <p:nvPr/>
        </p:nvSpPr>
        <p:spPr>
          <a:xfrm>
            <a:off x="128016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regression-</a:t>
            </a:r>
            <a:r>
              <a:rPr lang="en-US" sz="15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demo.ipynb</a:t>
            </a:r>
            <a:endParaRPr lang="en-US" sz="1500" dirty="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EE77B8FD-F10C-A717-974E-0C59846D693E}"/>
              </a:ext>
            </a:extLst>
          </p:cNvPr>
          <p:cNvSpPr/>
          <p:nvPr/>
        </p:nvSpPr>
        <p:spPr>
          <a:xfrm>
            <a:off x="822960" y="2065842"/>
            <a:ext cx="6400800" cy="4389120"/>
          </a:xfrm>
          <a:prstGeom prst="rect">
            <a:avLst/>
          </a:prstGeom>
          <a:solidFill>
            <a:srgbClr val="1E1E2E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DD918974-7C82-C185-8C32-BC6954811C03}"/>
              </a:ext>
            </a:extLst>
          </p:cNvPr>
          <p:cNvSpPr/>
          <p:nvPr/>
        </p:nvSpPr>
        <p:spPr>
          <a:xfrm>
            <a:off x="1097280" y="22860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Calculations</a:t>
            </a:r>
            <a:endParaRPr lang="en-US" sz="140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46859D9-0E65-56A4-2BB1-D900B84C4BCE}"/>
              </a:ext>
            </a:extLst>
          </p:cNvPr>
          <p:cNvSpPr/>
          <p:nvPr/>
        </p:nvSpPr>
        <p:spPr>
          <a:xfrm>
            <a:off x="1097280" y="2743200"/>
            <a:ext cx="5852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00"/>
              </a:lnSpc>
              <a:buNone/>
            </a:pP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x_mean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PH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PH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mean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800"/>
              </a:lnSpc>
              <a:buNone/>
            </a:pP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y_mean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PH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PH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mean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PH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numerator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l-G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Σ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PH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x_mean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PH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y_mean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800"/>
              </a:lnSpc>
              <a:buNone/>
            </a:pP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denominator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l-G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Σ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PH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x_mean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PH" dirty="0">
                <a:solidFill>
                  <a:srgbClr val="D4D4D4"/>
                </a:solidFill>
                <a:latin typeface="Consolas" panose="020B0609020204030204" pitchFamily="49" charset="0"/>
              </a:rPr>
              <a:t>^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endParaRPr lang="en-PH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slope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numerator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denominator</a:t>
            </a:r>
            <a:endParaRPr lang="en-PH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intercept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y_mean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slope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x_mean</a:t>
            </a:r>
            <a:endParaRPr lang="en-PH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predictions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intercept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slope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endParaRPr lang="en-PH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residuals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–</a:t>
            </a:r>
            <a:r>
              <a:rPr lang="en-PH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predictions</a:t>
            </a:r>
          </a:p>
          <a:p>
            <a:pPr>
              <a:lnSpc>
                <a:spcPts val="1800"/>
              </a:lnSpc>
              <a:buNone/>
            </a:pPr>
            <a:r>
              <a:rPr lang="en-PH" dirty="0">
                <a:solidFill>
                  <a:srgbClr val="9CDCFE"/>
                </a:solidFill>
                <a:latin typeface="Consolas" panose="020B0609020204030204" pitchFamily="49" charset="0"/>
              </a:rPr>
              <a:t>    </a:t>
            </a:r>
            <a:r>
              <a:rPr lang="en-PH" dirty="0" err="1">
                <a:solidFill>
                  <a:srgbClr val="9CDCFE"/>
                </a:solidFill>
                <a:latin typeface="Consolas" panose="020B0609020204030204" pitchFamily="49" charset="0"/>
              </a:rPr>
              <a:t>sse</a:t>
            </a:r>
            <a:r>
              <a:rPr lang="en-PH" dirty="0">
                <a:solidFill>
                  <a:srgbClr val="9CDCFE"/>
                </a:solidFill>
                <a:latin typeface="Consolas" panose="020B0609020204030204" pitchFamily="49" charset="0"/>
              </a:rPr>
              <a:t> = </a:t>
            </a:r>
            <a:r>
              <a:rPr lang="el-GR" dirty="0">
                <a:solidFill>
                  <a:srgbClr val="DCDCAA"/>
                </a:solidFill>
                <a:latin typeface="Consolas" panose="020B0609020204030204" pitchFamily="49" charset="0"/>
              </a:rPr>
              <a:t>Σ</a:t>
            </a:r>
            <a:r>
              <a:rPr lang="en-PH" dirty="0">
                <a:solidFill>
                  <a:srgbClr val="9CDCFE"/>
                </a:solidFill>
                <a:latin typeface="Consolas" panose="020B0609020204030204" pitchFamily="49" charset="0"/>
              </a:rPr>
              <a:t>(residuals </a:t>
            </a:r>
            <a:r>
              <a:rPr lang="en-PH" dirty="0">
                <a:solidFill>
                  <a:srgbClr val="D4D4D4"/>
                </a:solidFill>
                <a:latin typeface="Consolas" panose="020B0609020204030204" pitchFamily="49" charset="0"/>
              </a:rPr>
              <a:t>^</a:t>
            </a:r>
            <a:r>
              <a:rPr lang="en-PH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PH" dirty="0">
                <a:solidFill>
                  <a:srgbClr val="B5CEA8"/>
                </a:solidFill>
                <a:latin typeface="Consolas" panose="020B0609020204030204" pitchFamily="49" charset="0"/>
              </a:rPr>
              <a:t>2)</a:t>
            </a:r>
          </a:p>
          <a:p>
            <a:pPr>
              <a:lnSpc>
                <a:spcPts val="1800"/>
              </a:lnSpc>
              <a:buNone/>
            </a:pPr>
            <a:r>
              <a:rPr lang="en-PH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PH" dirty="0" err="1">
                <a:solidFill>
                  <a:srgbClr val="9CDCFE"/>
                </a:solidFill>
                <a:latin typeface="Consolas" panose="020B0609020204030204" pitchFamily="49" charset="0"/>
              </a:rPr>
              <a:t>sst</a:t>
            </a:r>
            <a:r>
              <a:rPr lang="en-PH" dirty="0">
                <a:solidFill>
                  <a:srgbClr val="9CDCFE"/>
                </a:solidFill>
                <a:latin typeface="Consolas" panose="020B0609020204030204" pitchFamily="49" charset="0"/>
              </a:rPr>
              <a:t> = </a:t>
            </a:r>
            <a:r>
              <a:rPr lang="el-GR" dirty="0">
                <a:solidFill>
                  <a:srgbClr val="DCDCAA"/>
                </a:solidFill>
                <a:latin typeface="Consolas" panose="020B0609020204030204" pitchFamily="49" charset="0"/>
              </a:rPr>
              <a:t>Σ</a:t>
            </a:r>
            <a:r>
              <a:rPr lang="en-PH" dirty="0">
                <a:solidFill>
                  <a:srgbClr val="9CDCFE"/>
                </a:solidFill>
                <a:latin typeface="Consolas" panose="020B0609020204030204" pitchFamily="49" charset="0"/>
              </a:rPr>
              <a:t>((y </a:t>
            </a:r>
            <a:r>
              <a:rPr lang="en-PH" dirty="0">
                <a:solidFill>
                  <a:srgbClr val="DCDCAA"/>
                </a:solidFill>
                <a:latin typeface="Consolas" panose="020B0609020204030204" pitchFamily="49" charset="0"/>
              </a:rPr>
              <a:t>–</a:t>
            </a:r>
            <a:r>
              <a:rPr lang="en-PH" dirty="0">
                <a:solidFill>
                  <a:srgbClr val="9CDCFE"/>
                </a:solidFill>
                <a:latin typeface="Consolas" panose="020B0609020204030204" pitchFamily="49" charset="0"/>
              </a:rPr>
              <a:t> </a:t>
            </a:r>
            <a:r>
              <a:rPr lang="en-PH" dirty="0" err="1">
                <a:solidFill>
                  <a:srgbClr val="9CDCFE"/>
                </a:solidFill>
                <a:latin typeface="Consolas" panose="020B0609020204030204" pitchFamily="49" charset="0"/>
              </a:rPr>
              <a:t>y_mean</a:t>
            </a:r>
            <a:r>
              <a:rPr lang="en-PH" dirty="0">
                <a:solidFill>
                  <a:srgbClr val="9CDCFE"/>
                </a:solidFill>
                <a:latin typeface="Consolas" panose="020B0609020204030204" pitchFamily="49" charset="0"/>
              </a:rPr>
              <a:t>) </a:t>
            </a:r>
            <a:r>
              <a:rPr lang="en-PH" dirty="0">
                <a:solidFill>
                  <a:srgbClr val="D4D4D4"/>
                </a:solidFill>
                <a:latin typeface="Consolas" panose="020B0609020204030204" pitchFamily="49" charset="0"/>
              </a:rPr>
              <a:t>^</a:t>
            </a:r>
            <a:r>
              <a:rPr lang="en-PH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PH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PH" dirty="0">
                <a:solidFill>
                  <a:srgbClr val="9CDCFE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PH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PH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r_squa</a:t>
            </a:r>
            <a:r>
              <a:rPr lang="en-PH" dirty="0" err="1">
                <a:solidFill>
                  <a:srgbClr val="9CDCFE"/>
                </a:solidFill>
                <a:latin typeface="Consolas" panose="020B0609020204030204" pitchFamily="49" charset="0"/>
              </a:rPr>
              <a:t>red</a:t>
            </a:r>
            <a:r>
              <a:rPr lang="en-PH" dirty="0">
                <a:solidFill>
                  <a:srgbClr val="9CDCFE"/>
                </a:solidFill>
                <a:latin typeface="Consolas" panose="020B0609020204030204" pitchFamily="49" charset="0"/>
              </a:rPr>
              <a:t> = </a:t>
            </a:r>
            <a:r>
              <a:rPr lang="en-PH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PH" dirty="0">
                <a:solidFill>
                  <a:srgbClr val="9CDCFE"/>
                </a:solidFill>
                <a:latin typeface="Consolas" panose="020B0609020204030204" pitchFamily="49" charset="0"/>
              </a:rPr>
              <a:t> </a:t>
            </a:r>
            <a:r>
              <a:rPr lang="en-PH" dirty="0">
                <a:solidFill>
                  <a:srgbClr val="DCDCAA"/>
                </a:solidFill>
                <a:latin typeface="Consolas" panose="020B0609020204030204" pitchFamily="49" charset="0"/>
              </a:rPr>
              <a:t>–</a:t>
            </a:r>
            <a:r>
              <a:rPr lang="en-PH" dirty="0">
                <a:solidFill>
                  <a:srgbClr val="9CDCFE"/>
                </a:solidFill>
                <a:latin typeface="Consolas" panose="020B0609020204030204" pitchFamily="49" charset="0"/>
              </a:rPr>
              <a:t> (</a:t>
            </a:r>
            <a:r>
              <a:rPr lang="en-PH" dirty="0" err="1">
                <a:solidFill>
                  <a:srgbClr val="9CDCFE"/>
                </a:solidFill>
                <a:latin typeface="Consolas" panose="020B0609020204030204" pitchFamily="49" charset="0"/>
              </a:rPr>
              <a:t>sse</a:t>
            </a:r>
            <a:r>
              <a:rPr lang="en-PH" dirty="0">
                <a:solidFill>
                  <a:srgbClr val="9CDCFE"/>
                </a:solidFill>
                <a:latin typeface="Consolas" panose="020B0609020204030204" pitchFamily="49" charset="0"/>
              </a:rPr>
              <a:t> / </a:t>
            </a:r>
            <a:r>
              <a:rPr lang="en-PH" dirty="0" err="1">
                <a:solidFill>
                  <a:srgbClr val="9CDCFE"/>
                </a:solidFill>
                <a:latin typeface="Consolas" panose="020B0609020204030204" pitchFamily="49" charset="0"/>
              </a:rPr>
              <a:t>sst</a:t>
            </a:r>
            <a:r>
              <a:rPr lang="en-PH" dirty="0">
                <a:solidFill>
                  <a:srgbClr val="9CDCFE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PH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PH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rmse</a:t>
            </a:r>
            <a:r>
              <a:rPr lang="en-PH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l-GR" dirty="0">
                <a:solidFill>
                  <a:srgbClr val="DCDCAA"/>
                </a:solidFill>
                <a:latin typeface="Consolas" panose="020B0609020204030204" pitchFamily="49" charset="0"/>
              </a:rPr>
              <a:t>√</a:t>
            </a:r>
            <a:r>
              <a:rPr lang="en-PH" dirty="0">
                <a:solidFill>
                  <a:srgbClr val="9CDCFE"/>
                </a:solidFill>
                <a:latin typeface="Consolas" panose="020B0609020204030204" pitchFamily="49" charset="0"/>
              </a:rPr>
              <a:t>(</a:t>
            </a:r>
            <a:r>
              <a:rPr lang="en-PH" dirty="0">
                <a:solidFill>
                  <a:srgbClr val="DCDCAA"/>
                </a:solidFill>
                <a:latin typeface="Consolas" panose="020B0609020204030204" pitchFamily="49" charset="0"/>
              </a:rPr>
              <a:t>mean</a:t>
            </a:r>
            <a:r>
              <a:rPr lang="en-PH" dirty="0">
                <a:solidFill>
                  <a:srgbClr val="9CDCFE"/>
                </a:solidFill>
                <a:latin typeface="Consolas" panose="020B0609020204030204" pitchFamily="49" charset="0"/>
              </a:rPr>
              <a:t>(residuals ^ 2))</a:t>
            </a:r>
            <a:endParaRPr lang="en-PH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28BB5F5E-8C1C-DEF5-C5FA-A1D0E1E64BE0}"/>
              </a:ext>
            </a:extLst>
          </p:cNvPr>
          <p:cNvSpPr/>
          <p:nvPr/>
        </p:nvSpPr>
        <p:spPr>
          <a:xfrm>
            <a:off x="7589520" y="2103120"/>
            <a:ext cx="3749040" cy="4389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25A73995-F6E1-3A64-B8EC-AD89755B05D6}"/>
              </a:ext>
            </a:extLst>
          </p:cNvPr>
          <p:cNvSpPr/>
          <p:nvPr/>
        </p:nvSpPr>
        <p:spPr>
          <a:xfrm>
            <a:off x="786384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91C1C"/>
                </a:solidFill>
                <a:latin typeface="Georgia" pitchFamily="34" charset="0"/>
              </a:rPr>
              <a:t>Goals</a:t>
            </a:r>
            <a:endParaRPr lang="en-US" sz="20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7065F1A2-9ED3-C3C6-46A0-ADE4CF4A6C97}"/>
              </a:ext>
            </a:extLst>
          </p:cNvPr>
          <p:cNvSpPr/>
          <p:nvPr/>
        </p:nvSpPr>
        <p:spPr>
          <a:xfrm>
            <a:off x="7863840" y="283464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formulas before using libraries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each metric connects to the math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with confidence when results look wrong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intuition that transfers to more complex models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821108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E1DB1-A564-AD96-66E9-72AC3A040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dirty="0"/>
              <a:t>Demo Results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BC454B-ED5A-B797-30B9-C41C49EF7F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F286F7DA-6CB0-6328-4D66-E83AC549388E}"/>
              </a:ext>
            </a:extLst>
          </p:cNvPr>
          <p:cNvSpPr/>
          <p:nvPr/>
        </p:nvSpPr>
        <p:spPr>
          <a:xfrm>
            <a:off x="623046" y="1423852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3EA1E8A0-1EBC-EDEA-4855-7D6936921465}"/>
              </a:ext>
            </a:extLst>
          </p:cNvPr>
          <p:cNvSpPr/>
          <p:nvPr/>
        </p:nvSpPr>
        <p:spPr>
          <a:xfrm>
            <a:off x="623046" y="1423852"/>
            <a:ext cx="1965960" cy="54864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0DCE800C-B601-EEB1-FAD1-592554F10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146" y="1698172"/>
            <a:ext cx="365760" cy="365760"/>
          </a:xfrm>
          <a:prstGeom prst="rect">
            <a:avLst/>
          </a:prstGeom>
        </p:spPr>
      </p:pic>
      <p:sp>
        <p:nvSpPr>
          <p:cNvPr id="7" name="Text 7">
            <a:extLst>
              <a:ext uri="{FF2B5EF4-FFF2-40B4-BE49-F238E27FC236}">
                <a16:creationId xmlns:a16="http://schemas.microsoft.com/office/drawing/2014/main" id="{4F200D8F-1307-B694-BFDA-6294840C4FD0}"/>
              </a:ext>
            </a:extLst>
          </p:cNvPr>
          <p:cNvSpPr/>
          <p:nvPr/>
        </p:nvSpPr>
        <p:spPr>
          <a:xfrm>
            <a:off x="760206" y="22010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</a:t>
            </a:r>
            <a:endParaRPr lang="en-US" sz="130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FEA41F3F-1277-9059-110D-E36AA94BCFAC}"/>
              </a:ext>
            </a:extLst>
          </p:cNvPr>
          <p:cNvSpPr/>
          <p:nvPr/>
        </p:nvSpPr>
        <p:spPr>
          <a:xfrm>
            <a:off x="760206" y="261257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$5.31</a:t>
            </a:r>
            <a:endParaRPr lang="en-US" sz="220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BC922AF4-F6D2-94F8-0C87-C75495EB6F35}"/>
              </a:ext>
            </a:extLst>
          </p:cNvPr>
          <p:cNvSpPr/>
          <p:nvPr/>
        </p:nvSpPr>
        <p:spPr>
          <a:xfrm>
            <a:off x="760206" y="3252652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 more revenue per $1 of </a:t>
            </a:r>
            <a:r>
              <a:rPr lang="en-US" sz="14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mkt_spend</a:t>
            </a:r>
            <a:endParaRPr lang="en-US" sz="1400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C5D2CE60-F2D2-0E54-0C84-CCCD4098B49A}"/>
              </a:ext>
            </a:extLst>
          </p:cNvPr>
          <p:cNvSpPr/>
          <p:nvPr/>
        </p:nvSpPr>
        <p:spPr>
          <a:xfrm>
            <a:off x="2771886" y="1423852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DFAB166B-985D-4D04-239C-BE866EC9AC28}"/>
              </a:ext>
            </a:extLst>
          </p:cNvPr>
          <p:cNvSpPr/>
          <p:nvPr/>
        </p:nvSpPr>
        <p:spPr>
          <a:xfrm>
            <a:off x="2771886" y="1423852"/>
            <a:ext cx="1965960" cy="54864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9D8CD17B-653E-4461-7AEF-50F745716F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986" y="1698172"/>
            <a:ext cx="365760" cy="365760"/>
          </a:xfrm>
          <a:prstGeom prst="rect">
            <a:avLst/>
          </a:prstGeom>
        </p:spPr>
      </p:pic>
      <p:sp>
        <p:nvSpPr>
          <p:cNvPr id="13" name="Text 12">
            <a:extLst>
              <a:ext uri="{FF2B5EF4-FFF2-40B4-BE49-F238E27FC236}">
                <a16:creationId xmlns:a16="http://schemas.microsoft.com/office/drawing/2014/main" id="{B6A15470-ED2F-5A4C-E2E8-AD86F77A7667}"/>
              </a:ext>
            </a:extLst>
          </p:cNvPr>
          <p:cNvSpPr/>
          <p:nvPr/>
        </p:nvSpPr>
        <p:spPr>
          <a:xfrm>
            <a:off x="2909046" y="22010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</a:t>
            </a:r>
            <a:endParaRPr lang="en-US" sz="13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CFD7E715-ABAC-F9CF-93B9-9B306A95868C}"/>
              </a:ext>
            </a:extLst>
          </p:cNvPr>
          <p:cNvSpPr/>
          <p:nvPr/>
        </p:nvSpPr>
        <p:spPr>
          <a:xfrm>
            <a:off x="2909046" y="261257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$11861.14</a:t>
            </a:r>
            <a:endParaRPr lang="en-US" sz="22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B607540D-C176-B358-69E3-FAD952CA6355}"/>
              </a:ext>
            </a:extLst>
          </p:cNvPr>
          <p:cNvSpPr/>
          <p:nvPr/>
        </p:nvSpPr>
        <p:spPr>
          <a:xfrm>
            <a:off x="2909046" y="3252652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revenue at $0 </a:t>
            </a:r>
            <a:r>
              <a:rPr lang="en-US" sz="14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mkt_spend</a:t>
            </a:r>
            <a:endParaRPr lang="en-US" sz="1400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ACBD7F95-3EC0-1B83-9E7B-CE658DD48884}"/>
              </a:ext>
            </a:extLst>
          </p:cNvPr>
          <p:cNvSpPr/>
          <p:nvPr/>
        </p:nvSpPr>
        <p:spPr>
          <a:xfrm>
            <a:off x="4920726" y="1423852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F4610684-9F2B-08B0-14B5-EEE6190E7302}"/>
              </a:ext>
            </a:extLst>
          </p:cNvPr>
          <p:cNvSpPr/>
          <p:nvPr/>
        </p:nvSpPr>
        <p:spPr>
          <a:xfrm>
            <a:off x="4920726" y="1423852"/>
            <a:ext cx="1965960" cy="54864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18" name="Image 2" descr="preencoded.png">
            <a:extLst>
              <a:ext uri="{FF2B5EF4-FFF2-40B4-BE49-F238E27FC236}">
                <a16:creationId xmlns:a16="http://schemas.microsoft.com/office/drawing/2014/main" id="{23A79088-7759-9388-BBA9-4940797FD9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0826" y="1698172"/>
            <a:ext cx="365760" cy="365760"/>
          </a:xfrm>
          <a:prstGeom prst="rect">
            <a:avLst/>
          </a:prstGeom>
        </p:spPr>
      </p:pic>
      <p:sp>
        <p:nvSpPr>
          <p:cNvPr id="19" name="Text 17">
            <a:extLst>
              <a:ext uri="{FF2B5EF4-FFF2-40B4-BE49-F238E27FC236}">
                <a16:creationId xmlns:a16="http://schemas.microsoft.com/office/drawing/2014/main" id="{C86F141C-CA72-C367-D0CB-151384D4F9CA}"/>
              </a:ext>
            </a:extLst>
          </p:cNvPr>
          <p:cNvSpPr/>
          <p:nvPr/>
        </p:nvSpPr>
        <p:spPr>
          <a:xfrm>
            <a:off x="5057886" y="22010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3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517BE66-395D-BEE6-2747-865215951A58}"/>
              </a:ext>
            </a:extLst>
          </p:cNvPr>
          <p:cNvSpPr/>
          <p:nvPr/>
        </p:nvSpPr>
        <p:spPr>
          <a:xfrm>
            <a:off x="5057886" y="261257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0.987415</a:t>
            </a:r>
            <a:endParaRPr lang="en-US" sz="2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E2B0DFC-8B04-ADB7-E93F-432AE0DDE27E}"/>
              </a:ext>
            </a:extLst>
          </p:cNvPr>
          <p:cNvSpPr/>
          <p:nvPr/>
        </p:nvSpPr>
        <p:spPr>
          <a:xfrm>
            <a:off x="5057886" y="3252652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 metric: 98.7% of variance explained</a:t>
            </a:r>
            <a:endParaRPr lang="en-US" sz="14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14D330A-ABBD-3DBB-F4CF-976C1FEAE35C}"/>
              </a:ext>
            </a:extLst>
          </p:cNvPr>
          <p:cNvSpPr/>
          <p:nvPr/>
        </p:nvSpPr>
        <p:spPr>
          <a:xfrm>
            <a:off x="7069566" y="1423852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C6847EF-2EF4-3D5A-7C63-B5ED535E779E}"/>
              </a:ext>
            </a:extLst>
          </p:cNvPr>
          <p:cNvSpPr/>
          <p:nvPr/>
        </p:nvSpPr>
        <p:spPr>
          <a:xfrm>
            <a:off x="7069566" y="1423852"/>
            <a:ext cx="1965960" cy="54864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359D891B-4646-F3BE-DAD7-FA28870A36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9666" y="1698172"/>
            <a:ext cx="365760" cy="365760"/>
          </a:xfrm>
          <a:prstGeom prst="rect">
            <a:avLst/>
          </a:prstGeom>
        </p:spPr>
      </p:pic>
      <p:sp>
        <p:nvSpPr>
          <p:cNvPr id="25" name="Text 22">
            <a:extLst>
              <a:ext uri="{FF2B5EF4-FFF2-40B4-BE49-F238E27FC236}">
                <a16:creationId xmlns:a16="http://schemas.microsoft.com/office/drawing/2014/main" id="{AE6AFEA1-7D44-4127-61BF-8BF4E351542D}"/>
              </a:ext>
            </a:extLst>
          </p:cNvPr>
          <p:cNvSpPr/>
          <p:nvPr/>
        </p:nvSpPr>
        <p:spPr>
          <a:xfrm>
            <a:off x="7206726" y="22010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3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51FF592E-9557-4515-B587-1E416CF2C2C2}"/>
              </a:ext>
            </a:extLst>
          </p:cNvPr>
          <p:cNvSpPr/>
          <p:nvPr/>
        </p:nvSpPr>
        <p:spPr>
          <a:xfrm>
            <a:off x="7206726" y="261257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$2874.12</a:t>
            </a:r>
            <a:endParaRPr lang="en-US" sz="220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BD474E9F-2517-16DD-884F-BA6CA81F9FE1}"/>
              </a:ext>
            </a:extLst>
          </p:cNvPr>
          <p:cNvSpPr/>
          <p:nvPr/>
        </p:nvSpPr>
        <p:spPr>
          <a:xfrm>
            <a:off x="7206726" y="3252652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error metric: average prediction error</a:t>
            </a:r>
            <a:endParaRPr lang="en-US" sz="1400" dirty="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6EED65DC-36D8-907C-B957-F292E7E6744C}"/>
              </a:ext>
            </a:extLst>
          </p:cNvPr>
          <p:cNvSpPr/>
          <p:nvPr/>
        </p:nvSpPr>
        <p:spPr>
          <a:xfrm>
            <a:off x="9218406" y="1423852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160548C4-1D4E-36CF-352B-4C4E0D8B80C6}"/>
              </a:ext>
            </a:extLst>
          </p:cNvPr>
          <p:cNvSpPr/>
          <p:nvPr/>
        </p:nvSpPr>
        <p:spPr>
          <a:xfrm>
            <a:off x="9218406" y="1423852"/>
            <a:ext cx="1965960" cy="54864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30" name="Image 4" descr="preencoded.png">
            <a:extLst>
              <a:ext uri="{FF2B5EF4-FFF2-40B4-BE49-F238E27FC236}">
                <a16:creationId xmlns:a16="http://schemas.microsoft.com/office/drawing/2014/main" id="{62B9F88C-3C4C-A2B0-0D88-3A4B5801F5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8506" y="1698172"/>
            <a:ext cx="365760" cy="365760"/>
          </a:xfrm>
          <a:prstGeom prst="rect">
            <a:avLst/>
          </a:prstGeom>
        </p:spPr>
      </p:pic>
      <p:sp>
        <p:nvSpPr>
          <p:cNvPr id="31" name="Text 27">
            <a:extLst>
              <a:ext uri="{FF2B5EF4-FFF2-40B4-BE49-F238E27FC236}">
                <a16:creationId xmlns:a16="http://schemas.microsoft.com/office/drawing/2014/main" id="{8D44A4D6-2B84-0B0F-8259-8A67FDF4499B}"/>
              </a:ext>
            </a:extLst>
          </p:cNvPr>
          <p:cNvSpPr/>
          <p:nvPr/>
        </p:nvSpPr>
        <p:spPr>
          <a:xfrm>
            <a:off x="9355566" y="22010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</a:t>
            </a:r>
            <a:endParaRPr lang="en-US" sz="1300" dirty="0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253C33B0-987E-E800-3954-B2A5B31DDF76}"/>
              </a:ext>
            </a:extLst>
          </p:cNvPr>
          <p:cNvSpPr/>
          <p:nvPr/>
        </p:nvSpPr>
        <p:spPr>
          <a:xfrm>
            <a:off x="9355566" y="261257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0.993688</a:t>
            </a:r>
            <a:endParaRPr lang="en-US" sz="2200" dirty="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709762A6-76AD-DCD2-08BB-9C74859975FD}"/>
              </a:ext>
            </a:extLst>
          </p:cNvPr>
          <p:cNvSpPr/>
          <p:nvPr/>
        </p:nvSpPr>
        <p:spPr>
          <a:xfrm>
            <a:off x="9355566" y="3252652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metric: very strong positive correlation</a:t>
            </a:r>
            <a:endParaRPr lang="en-US" sz="1400" dirty="0"/>
          </a:p>
        </p:txBody>
      </p:sp>
      <p:sp>
        <p:nvSpPr>
          <p:cNvPr id="34" name="Shape 30">
            <a:extLst>
              <a:ext uri="{FF2B5EF4-FFF2-40B4-BE49-F238E27FC236}">
                <a16:creationId xmlns:a16="http://schemas.microsoft.com/office/drawing/2014/main" id="{66013F08-35BE-48BB-D328-013D3CE70712}"/>
              </a:ext>
            </a:extLst>
          </p:cNvPr>
          <p:cNvSpPr/>
          <p:nvPr/>
        </p:nvSpPr>
        <p:spPr>
          <a:xfrm>
            <a:off x="623046" y="5264332"/>
            <a:ext cx="10881360" cy="9144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13EDFD9B-631B-0F9A-E749-1AF1A0FB81E1}"/>
              </a:ext>
            </a:extLst>
          </p:cNvPr>
          <p:cNvSpPr/>
          <p:nvPr/>
        </p:nvSpPr>
        <p:spPr>
          <a:xfrm>
            <a:off x="897366" y="5264332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reports model coefficients, fit, direct error, and correlation so the output is easier to explain in class.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33292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67B6A-4901-AB48-3845-3968D4CED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H" dirty="0"/>
              <a:t>Practical Interpretation</a:t>
            </a:r>
            <a:br>
              <a:rPr lang="en-PH" dirty="0"/>
            </a:br>
            <a:endParaRPr lang="en-P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0F7B27-776A-BF56-6210-89BD76451E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864D6D3F-48D8-0393-E6A8-79A4D6C5466A}"/>
              </a:ext>
            </a:extLst>
          </p:cNvPr>
          <p:cNvSpPr/>
          <p:nvPr/>
        </p:nvSpPr>
        <p:spPr>
          <a:xfrm>
            <a:off x="822960" y="1463040"/>
            <a:ext cx="6858000" cy="4754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A11322CE-0716-3860-3868-64273DC38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691640"/>
            <a:ext cx="365760" cy="365760"/>
          </a:xfrm>
          <a:prstGeom prst="rect">
            <a:avLst/>
          </a:prstGeom>
        </p:spPr>
      </p:pic>
      <p:sp>
        <p:nvSpPr>
          <p:cNvPr id="6" name="Text 6">
            <a:extLst>
              <a:ext uri="{FF2B5EF4-FFF2-40B4-BE49-F238E27FC236}">
                <a16:creationId xmlns:a16="http://schemas.microsoft.com/office/drawing/2014/main" id="{B134616F-6435-0EB1-B9CF-C5C9F4C7F899}"/>
              </a:ext>
            </a:extLst>
          </p:cNvPr>
          <p:cNvSpPr/>
          <p:nvPr/>
        </p:nvSpPr>
        <p:spPr>
          <a:xfrm>
            <a:off x="155448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Insights</a:t>
            </a:r>
            <a:endParaRPr lang="en-US" sz="18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F259780E-7EFC-C19B-BD16-EC21D70E49D5}"/>
              </a:ext>
            </a:extLst>
          </p:cNvPr>
          <p:cNvSpPr/>
          <p:nvPr/>
        </p:nvSpPr>
        <p:spPr>
          <a:xfrm>
            <a:off x="1097280" y="2286000"/>
            <a:ext cx="6217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$1 increase in </a:t>
            </a:r>
            <a:r>
              <a:rPr lang="en-US" sz="2200" b="1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mkt_spend</a:t>
            </a:r>
            <a:r>
              <a:rPr lang="en-US" sz="2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associated with about $5.32 more in revenue.</a:t>
            </a:r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R² fit metric is still very strong at 98.7%, and the RMSE error metric shows a typical miss of about $2,874 for this noisy dataset.</a:t>
            </a:r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 correlation (r = 0.994) supports a clear linear relationship. However, the baseline intercept (~$11,861) suggests revenue exists even without marketing.</a:t>
            </a:r>
            <a:endParaRPr lang="en-US" sz="2200" b="1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2D20033E-DCB9-BF54-A58F-C1AFDB8D0999}"/>
              </a:ext>
            </a:extLst>
          </p:cNvPr>
          <p:cNvSpPr/>
          <p:nvPr/>
        </p:nvSpPr>
        <p:spPr>
          <a:xfrm>
            <a:off x="8046720" y="1463040"/>
            <a:ext cx="3383280" cy="4754880"/>
          </a:xfrm>
          <a:prstGeom prst="rect">
            <a:avLst/>
          </a:prstGeom>
          <a:solidFill>
            <a:srgbClr val="B91C1C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4EE6E887-B18A-2C2E-ABB5-3A0BE1E4D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737360"/>
            <a:ext cx="320040" cy="320040"/>
          </a:xfrm>
          <a:prstGeom prst="rect">
            <a:avLst/>
          </a:prstGeom>
        </p:spPr>
      </p:pic>
      <p:sp>
        <p:nvSpPr>
          <p:cNvPr id="10" name="Text 9">
            <a:extLst>
              <a:ext uri="{FF2B5EF4-FFF2-40B4-BE49-F238E27FC236}">
                <a16:creationId xmlns:a16="http://schemas.microsoft.com/office/drawing/2014/main" id="{BBA6D347-3A74-E134-44BD-8AE9FC2256A6}"/>
              </a:ext>
            </a:extLst>
          </p:cNvPr>
          <p:cNvSpPr/>
          <p:nvPr/>
        </p:nvSpPr>
        <p:spPr>
          <a:xfrm>
            <a:off x="8686800" y="1737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Important Caveat</a:t>
            </a:r>
            <a:endParaRPr lang="en-US" sz="16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21A718F0-AC1B-0BC0-7A35-861FCDA3D258}"/>
              </a:ext>
            </a:extLst>
          </p:cNvPr>
          <p:cNvSpPr/>
          <p:nvPr/>
        </p:nvSpPr>
        <p:spPr>
          <a:xfrm>
            <a:off x="8321040" y="2286000"/>
            <a:ext cx="2834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≠ Causation</a:t>
            </a:r>
            <a:endParaRPr lang="en-US" sz="2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correlation between marketing spend and revenue does not prove that spending more causes higher revenue.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factors (seasonality, market trends, product quality) may also contribute.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consider the business context before making decisions based on model outputs.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175724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BBDD4-D31D-56FC-FFE4-7265C48F131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102332" y="2206305"/>
            <a:ext cx="3398352" cy="120032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Inter" panose="020B0502030000000004" pitchFamily="34" charset="0"/>
                <a:cs typeface="Poppins SemiBold" panose="00000700000000000000" pitchFamily="2" charset="0"/>
              </a:rPr>
              <a:t>Get In Touch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CD172D"/>
                </a:solidFill>
                <a:effectLst/>
                <a:uLnTx/>
                <a:uFillTx/>
                <a:latin typeface="+mj-lt"/>
                <a:ea typeface="Inter" panose="020B0502030000000004" pitchFamily="34" charset="0"/>
                <a:cs typeface="Poppins SemiBold" panose="00000700000000000000" pitchFamily="2" charset="0"/>
              </a:rPr>
              <a:t>With Us</a:t>
            </a:r>
            <a:endParaRPr kumimoji="0" lang="en-ID" sz="3600" b="1" i="0" u="none" strike="noStrike" kern="1200" cap="none" spc="0" normalizeH="0" baseline="0" noProof="0" dirty="0">
              <a:ln>
                <a:noFill/>
              </a:ln>
              <a:solidFill>
                <a:srgbClr val="CD172D"/>
              </a:solidFill>
              <a:effectLst/>
              <a:uLnTx/>
              <a:uFillTx/>
              <a:latin typeface="+mj-lt"/>
              <a:ea typeface="Inter" panose="020B0502030000000004" pitchFamily="34" charset="0"/>
              <a:cs typeface="Poppins SemiBold" panose="00000700000000000000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1F6424-E04C-3C3F-F1D6-60A56B0E8B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CC4458C-FC96-A509-C850-2890E59A05CD}"/>
              </a:ext>
            </a:extLst>
          </p:cNvPr>
          <p:cNvSpPr txBox="1"/>
          <p:nvPr/>
        </p:nvSpPr>
        <p:spPr>
          <a:xfrm>
            <a:off x="5656374" y="5052297"/>
            <a:ext cx="2290268" cy="339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getstarted@openit.com</a:t>
            </a:r>
          </a:p>
        </p:txBody>
      </p:sp>
    </p:spTree>
    <p:extLst>
      <p:ext uri="{BB962C8B-B14F-4D97-AF65-F5344CB8AC3E}">
        <p14:creationId xmlns:p14="http://schemas.microsoft.com/office/powerpoint/2010/main" val="5641249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7E9B704-5C50-423D-9EB7-2251F0F3F78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900830" y="1480096"/>
            <a:ext cx="4729180" cy="120032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Inter" panose="020B0502030000000004" pitchFamily="34" charset="0"/>
                <a:cs typeface="Open Sans" panose="020B0606030504020204" pitchFamily="34" charset="0"/>
              </a:rPr>
              <a:t>Thank You</a:t>
            </a: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CD172D"/>
                </a:solidFill>
                <a:effectLst/>
                <a:uLnTx/>
                <a:uFillTx/>
                <a:latin typeface="+mj-lt"/>
                <a:ea typeface="Inter" panose="020B0502030000000004" pitchFamily="34" charset="0"/>
                <a:cs typeface="Open Sans" panose="020B0606030504020204" pitchFamily="34" charset="0"/>
              </a:rPr>
              <a:t>.</a:t>
            </a:r>
            <a:endParaRPr kumimoji="0" lang="en-ID" sz="7200" b="1" i="0" u="none" strike="noStrike" kern="1200" cap="none" spc="0" normalizeH="0" baseline="0" noProof="0" dirty="0">
              <a:ln>
                <a:noFill/>
              </a:ln>
              <a:solidFill>
                <a:srgbClr val="CD172D"/>
              </a:solidFill>
              <a:effectLst/>
              <a:uLnTx/>
              <a:uFillTx/>
              <a:latin typeface="+mj-lt"/>
              <a:ea typeface="Inter" panose="020B05020300000000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BA6664-1B94-A28C-648E-AAED4700D6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959883"/>
      </p:ext>
    </p:extLst>
  </p:cSld>
  <p:clrMapOvr>
    <a:masterClrMapping/>
  </p:clrMapOvr>
</p:sld>
</file>

<file path=ppt/theme/theme1.xml><?xml version="1.0" encoding="utf-8"?>
<a:theme xmlns:a="http://schemas.openxmlformats.org/drawingml/2006/main" name="Open iT">
  <a:themeElements>
    <a:clrScheme name="Open iT">
      <a:dk1>
        <a:sysClr val="windowText" lastClr="000000"/>
      </a:dk1>
      <a:lt1>
        <a:sysClr val="window" lastClr="FFFFFF"/>
      </a:lt1>
      <a:dk2>
        <a:srgbClr val="404040"/>
      </a:dk2>
      <a:lt2>
        <a:srgbClr val="E7E6E6"/>
      </a:lt2>
      <a:accent1>
        <a:srgbClr val="CD172D"/>
      </a:accent1>
      <a:accent2>
        <a:srgbClr val="0E0F30"/>
      </a:accent2>
      <a:accent3>
        <a:srgbClr val="161617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iT-PPT-Template-v10" id="{565F0CC9-428F-4ED5-93B2-865DB9FF280C}" vid="{7AE3E66D-A283-4037-BDE8-0F41F42780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3DA05B32D79942917AFC4E7F563CF2" ma:contentTypeVersion="4" ma:contentTypeDescription="Create a new document." ma:contentTypeScope="" ma:versionID="85969b034e2bf0b5a08d8a7fed8850ee">
  <xsd:schema xmlns:xsd="http://www.w3.org/2001/XMLSchema" xmlns:xs="http://www.w3.org/2001/XMLSchema" xmlns:p="http://schemas.microsoft.com/office/2006/metadata/properties" xmlns:ns2="df86177f-335d-4a56-9a40-016518eff5dd" targetNamespace="http://schemas.microsoft.com/office/2006/metadata/properties" ma:root="true" ma:fieldsID="261e1dc9c9e54a9d8ceb1931e9dc2ac9" ns2:_="">
    <xsd:import namespace="df86177f-335d-4a56-9a40-016518eff5d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86177f-335d-4a56-9a40-016518eff5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DD294BA-A0E1-4EBB-9403-9EE77C1C00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86177f-335d-4a56-9a40-016518eff5d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031D98B-B485-4183-90F6-1C6FDEEE04D8}">
  <ds:schemaRefs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purl.org/dc/terms/"/>
    <ds:schemaRef ds:uri="df86177f-335d-4a56-9a40-016518eff5dd"/>
    <ds:schemaRef ds:uri="http://schemas.openxmlformats.org/package/2006/metadata/core-properties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31689013-3C17-4512-B52E-AA7C876AD46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OpeniT_PowerPoint</Template>
  <TotalTime>690</TotalTime>
  <Words>2117</Words>
  <Application>Microsoft Office PowerPoint</Application>
  <PresentationFormat>Widescreen</PresentationFormat>
  <Paragraphs>306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Georgia</vt:lpstr>
      <vt:lpstr>Segoe UI</vt:lpstr>
      <vt:lpstr>Arial</vt:lpstr>
      <vt:lpstr>Consolas</vt:lpstr>
      <vt:lpstr>Calibri</vt:lpstr>
      <vt:lpstr>Wingdings</vt:lpstr>
      <vt:lpstr>Source Sans Pro</vt:lpstr>
      <vt:lpstr>Open iT</vt:lpstr>
      <vt:lpstr>Regression and Statistical Algorithms</vt:lpstr>
      <vt:lpstr>Agenda</vt:lpstr>
      <vt:lpstr>Dataset: Marketing Campaign</vt:lpstr>
      <vt:lpstr>Pearson Correlation Coefficient (r)</vt:lpstr>
      <vt:lpstr>Correlation Heatmap</vt:lpstr>
      <vt:lpstr>Correlation Code Demo</vt:lpstr>
      <vt:lpstr>What Is Regression?</vt:lpstr>
      <vt:lpstr>Regression Problem Setup</vt:lpstr>
      <vt:lpstr>Regression Formula</vt:lpstr>
      <vt:lpstr>Regression vs Correlation</vt:lpstr>
      <vt:lpstr>Predictions and Residuals</vt:lpstr>
      <vt:lpstr>Regression Plot</vt:lpstr>
      <vt:lpstr>R-squared (R²)</vt:lpstr>
      <vt:lpstr>Root Mean Squared Error (RMSE)</vt:lpstr>
      <vt:lpstr>Regression Code Demo</vt:lpstr>
      <vt:lpstr>Demo Results</vt:lpstr>
      <vt:lpstr>Practical Interpretation </vt:lpstr>
      <vt:lpstr>Get In Touch With Us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Ruth Anne L. Labitigan</dc:creator>
  <cp:lastModifiedBy>Alexander Maralit</cp:lastModifiedBy>
  <cp:revision>11</cp:revision>
  <dcterms:created xsi:type="dcterms:W3CDTF">2026-04-01T05:07:33Z</dcterms:created>
  <dcterms:modified xsi:type="dcterms:W3CDTF">2026-05-11T01:00:36Z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0x010100A43DA05B32D79942917AFC4E7F563CF2</vt:lpwstr>
  </property>
</Properties>
</file>